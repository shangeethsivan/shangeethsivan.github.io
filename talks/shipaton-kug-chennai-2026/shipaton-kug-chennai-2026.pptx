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slow: We know how to build. But do we know how to sell?</a:t>
            </a:r>
          </a:p>
          <a:p>
            <a:r>
              <a:t>Tanglish: Vibe coding easy-ya irukku da. Oruthan pay panna veikkardhu dhaan kashtam. Adhukku oru resilience venum.</a:t>
            </a:r>
          </a:p>
          <a:p>
            <a:r>
              <a:t>AI made building cheap. Most of us have a GitHub graveyard. Polishing is not a test of demand.</a:t>
            </a:r>
          </a:p>
          <a:p>
            <a:r>
              <a:t>People just out of college have an upper hand — fewer habits to unlearn. Ask them to take YC Startup School (free, online) and use it.</a:t>
            </a:r>
          </a:p>
          <a:p>
            <a:r>
              <a:t>Say “early Startup School lessons.” Do not invent a lesson number.</a:t>
            </a:r>
          </a:p>
          <a:p>
            <a:r>
              <a:t>https://www.startupschool.org/</a:t>
            </a:r>
          </a:p>
          <a:p>
            <a:r>
              <a:t>Resilience: https://www.youtube.com/watch?v=BUE-icVYRFU</a:t>
            </a:r>
          </a:p>
          <a:p>
            <a:r>
              <a:t>Vibe coding: https://www.youtube.com/watch?v=BJjsfNO5JTo</a:t>
            </a:r>
          </a:p>
          <a:p>
            <a:r>
              <a:t>Event: https://luma.com/mprx0ocg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Tanglish: Instagram venam da. Oru small utility, oru problem solve panna, adhuvum sell aagum.</a:t>
            </a:r>
          </a:p>
          <a:p>
            <a:r>
              <a:t>Four groups: mini games, mini apps, micro-SaaS, developer tools.</a:t>
            </a:r>
          </a:p>
          <a:p>
            <a:r>
              <a:t>Supermeme.ai (https://supermeme.ai/) and DroidClaw (https://droidclaw.ai/) are focused-product inspiration only. Do not claim revenue, ARR, or that they are the same size.</a:t>
            </a:r>
          </a:p>
          <a:p>
            <a:r>
              <a:t>Close: even a tiny utility solving one meaningful problem can become a sellable product.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Tanglish: Innoru feature add panna kedayadhu. First paying customer dhaan matter.</a:t>
            </a:r>
          </a:p>
          <a:p>
            <a:r>
              <a:t>Pipeline: Idea → MVP → Real User → Payment → Feedback → Better Product.</a:t>
            </a:r>
          </a:p>
          <a:p>
            <a:r>
              <a:t>Prices are illustrative: ₹99–₹499 one-time, ₹199/month, freemium, credits, team plans, preorders, memberships.</a:t>
            </a:r>
          </a:p>
          <a:p>
            <a:r>
              <a:t>Talk to customers. Show pricing early. Paid pilot. Clear refund and delivery policy.</a:t>
            </a:r>
          </a:p>
          <a:p>
            <a:r>
              <a:t>Razorpay: https://razorpay.com/</a:t>
            </a:r>
          </a:p>
          <a:p>
            <a:r>
              <a:t>Stripe India is invite-only: https://support.stripe.com/questions/stripe-accounts-are-invite-only-in-india</a:t>
            </a:r>
          </a:p>
          <a:p>
            <a:r>
              <a:t>Play Billing: https://support.google.com/googleplay/android-developer/answer/9858738</a:t>
            </a:r>
          </a:p>
          <a:p>
            <a:r>
              <a:t>Crowdfunding is not guaranteed. Kickstarter creator countries do not include India: https://updates.kickstarter.com/who-is-eligible-to-use-kickstarter/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Shipping is the start of your feedback loop, not the end.</a:t>
            </a:r>
          </a:p>
          <a:p>
            <a:r>
              <a:t>Tanglish: Deploy pannitom-nu ninaikadheenga. Feedback varala-na, adhu launch illa — adhu just deployment.</a:t>
            </a:r>
          </a:p>
          <a:p>
            <a:r>
              <a:t>Nobody needs every tool. Pick a tiny set.</a:t>
            </a:r>
          </a:p>
          <a:p>
            <a:r>
              <a:t>Loop: Launch → Analytics → Feedback → Improvements → Retention → Revenue.</a:t>
            </a:r>
          </a:p>
          <a:p>
            <a:r>
              <a:t>PostHog https://posthog.com/</a:t>
            </a:r>
          </a:p>
          <a:p>
            <a:r>
              <a:t>Firebase Analytics https://firebase.google.com/docs/analytics</a:t>
            </a:r>
          </a:p>
          <a:p>
            <a:r>
              <a:t>Mixpanel https://mixpanel.com/</a:t>
            </a:r>
          </a:p>
          <a:p>
            <a:r>
              <a:t>Plausible https://plausible.io/</a:t>
            </a:r>
          </a:p>
          <a:p>
            <a:r>
              <a:t>Sentry https://sentry.io/</a:t>
            </a:r>
          </a:p>
          <a:p>
            <a:r>
              <a:t>Crashlytics https://firebase.google.com/docs/crashlytics</a:t>
            </a:r>
          </a:p>
          <a:p>
            <a:r>
              <a:t>Product Hunt https://www.producthunt.com/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Five customers × ₹199 = ₹995 gross, before tax and fees.</a:t>
            </a:r>
          </a:p>
          <a:p>
            <a:r>
              <a:t>Tanglish: Anju per ₹199 kudutha, almost thousand. Athu thaan first test — PMF illa, willingness to pay.</a:t>
            </a:r>
          </a:p>
          <a:p>
            <a:r>
              <a:t>Seven steps: painful problem → smallest useful solution → landing + pricing → payment method → share → measure → improve from behavior.</a:t>
            </a:r>
          </a:p>
          <a:p>
            <a:r>
              <a:t>Examples: ₹199 browser extension, ₹299 mobile utility, ₹499/month small-business tool, paid mini-game level pack.</a:t>
            </a:r>
          </a:p>
          <a:p>
            <a:r>
              <a:t>Payment validates willingness to pay. It is not product-market fit.</a:t>
            </a:r>
          </a:p>
          <a:p>
            <a:r>
              <a:t>First payment docs: https://razorpay.com/docs/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BUILD ANYTHING. SHIP SOMETHING.</a:t>
            </a:r>
          </a:p>
          <a:p>
            <a:r>
              <a:t>Solo or team. Existing products and new ideas. Games, mobile, web, AI, micro-SaaS, any stack.</a:t>
            </a:r>
          </a:p>
          <a:p>
            <a:r>
              <a:t>Tanglish: Team venum-na team. Solo-va irundha, solo. Build anything. Ship something.</a:t>
            </a:r>
          </a:p>
          <a:p>
            <a:r>
              <a:t>RevenueCat is an event collaborator on https://luma.com/mprx0ocg — not a requirement. Any policy-compliant payment provider is allowed.</a:t>
            </a:r>
          </a:p>
          <a:p>
            <a:r>
              <a:t>A workable monetization model counts. Big revenue during the event is not required.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shared Google Sheet for register + progress.</a:t>
            </a:r>
          </a:p>
          <a:p>
            <a:r>
              <a:t>Tanglish: Sheet-la fill pannunga. Review Ready-ku maathunga. Organizers dhaan paathu review pannuvaanga.</a:t>
            </a:r>
          </a:p>
          <a:p>
            <a:r>
              <a:t>Columns: Product Name, Creator / Team, Product Category, Demo / Product URL, Repository URL, Monetization Model, Payment Integration (Live / Test / Planned), Deployment Status, Review Status (In Progress / Review Ready / Reviewed), Production Ready by Thursday (Yes / No), Notes.</a:t>
            </a:r>
          </a:p>
          <a:p>
            <a:r>
              <a:t>Workflow: fill sheet → update URLs → participant sets Review Status to Review Ready → organizers review those rows → organizers record the outcome.</a:t>
            </a:r>
          </a:p>
          <a:p>
            <a:r>
              <a:t>Review Ready is not approval.</a:t>
            </a:r>
          </a:p>
          <a:p>
            <a:r>
              <a:t>Sheet URL: SHEET_LINK_PLACEHOLDER</a:t>
            </a:r>
          </a:p>
          <a:p>
            <a:r>
              <a:t>Event: https://luma.com/mprx0ocg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Thursday is the shipping deadline. Do not invent a calendar date.</a:t>
            </a:r>
          </a:p>
          <a:p>
            <a:r>
              <a:t>Tanglish: Thursday-kku deploy aaganum. Review Ready-na ‘paathu videoonga.’ Production Ready-na ‘users use panna ready.’</a:t>
            </a:r>
          </a:p>
          <a:p>
            <a:r>
              <a:t>Review Ready = please review. Production Ready by Thursday = deployed and usable.</a:t>
            </a:r>
          </a:p>
          <a:p>
            <a:r>
              <a:t>Thursday is extra DevFest prize eligibility, not an automatic win, and not the same as Review Ready.</a:t>
            </a:r>
          </a:p>
          <a:p>
            <a:r>
              <a:t>Checklist: working production URL or accessible release; core functionality; usable onboarding; no critical blockers; clear monetization; payment flow when applicable; basic analytics or feedback; enough for organizers to test.</a:t>
            </a:r>
          </a:p>
          <a:p>
            <a:r>
              <a:t>Event: https://luma.com/mprx0ocg</a:t>
            </a:r>
          </a:p>
          <a:p>
            <a:r>
              <a:t>DevFest: https://devfest.gdgchennai.in/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Organizers review. Selected winners receive DevFest Chennai tickets.</a:t>
            </a:r>
          </a:p>
          <a:p>
            <a:r>
              <a:t>Prizes also awarded at DevFest: Saturday 17 October 2026, IITM Research Park. https://devfest.gdgchennai.in/</a:t>
            </a:r>
          </a:p>
          <a:p>
            <a:r>
              <a:t>Tanglish: Ship pannunga. Review aaganum. Win-na bonus — guarantee illa.</a:t>
            </a:r>
          </a:p>
          <a:p>
            <a:r>
              <a:t>Thursday production-ready teams are considered for an additional prize — eligibility, not a guarantee.</a:t>
            </a:r>
          </a:p>
          <a:p>
            <a:r>
              <a:t>Judging themes only: usefulness, execution, UX, monetization potential, real deployment, learning. Do not invent amounts, winner counts, or weights.</a:t>
            </a:r>
          </a:p>
          <a:p>
            <a:r>
              <a:t>Close: Don't just build another side project. Build something people can use, ship it to the world, and see if someone is willing to pay for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Official DevFest Chennai 2026 banner. No title overlay. Leave it up.</a:t>
            </a:r>
          </a:p>
          <a:p>
            <a:r>
              <a:t>Tanglish: Banner-ah vechi vidunga. QR invent pannaathinga. DevFest-ku point pannunga.</a:t>
            </a:r>
          </a:p>
          <a:p>
            <a:r>
              <a:t>https://devfest.gdgchennai.in/ — Saturday 17 October 2026, IITM Research Park.</a:t>
            </a:r>
          </a:p>
          <a:p>
            <a:r>
              <a:t>Published banner has no QR code. Do not invent one.</a:t>
            </a:r>
          </a:p>
          <a:p>
            <a:r>
              <a:t>Source: https://devfest.gdgchennai.in/banner/main.webp (2160×1080).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7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CE1FF"/>
                </a:solidFill>
                <a:latin typeface="Consolas"/>
              </a:rPr>
              <a:t>KUG CHENNAI  ·  SHIPATON — ROAD TO DEVFEST, KOTLIN EDITION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0080"/>
            <a:ext cx="67665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7F8FF"/>
                </a:solidFill>
                <a:latin typeface="Calibri"/>
              </a:rPr>
              <a:t>What's Stopping Us from Shipping Great Products and Monetizing Them?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154680"/>
            <a:ext cx="6675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7F8FF"/>
                </a:solidFill>
                <a:latin typeface="Calibri"/>
              </a:rPr>
              <a:t>We know how to build. But do we know how to sell?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023360"/>
            <a:ext cx="6675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5CE1FF"/>
                </a:solidFill>
                <a:latin typeface="Calibri"/>
              </a:rPr>
              <a:t>Vibe coding is easy. Getting someone to pay takes resilience.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52360" y="1051560"/>
            <a:ext cx="1353312" cy="1261872"/>
          </a:xfrm>
          <a:prstGeom prst="roundRect">
            <a:avLst/>
          </a:prstGeom>
          <a:solidFill>
            <a:srgbClr val="16182C"/>
          </a:solidFill>
          <a:ln>
            <a:solidFill>
              <a:srgbClr val="2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52360" y="1371600"/>
            <a:ext cx="13533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C9D0EE"/>
                </a:solidFill>
                <a:latin typeface="Calibri"/>
              </a:rPr>
              <a:t>Puzzle Drop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15400" y="1051560"/>
            <a:ext cx="1353312" cy="1261872"/>
          </a:xfrm>
          <a:prstGeom prst="roundRect">
            <a:avLst/>
          </a:prstGeom>
          <a:solidFill>
            <a:srgbClr val="16182C"/>
          </a:solidFill>
          <a:ln>
            <a:solidFill>
              <a:srgbClr val="2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15400" y="1371600"/>
            <a:ext cx="13533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C9D0EE"/>
                </a:solidFill>
                <a:latin typeface="Calibri"/>
              </a:rPr>
              <a:t>InvoiceBot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378440" y="1051560"/>
            <a:ext cx="1353312" cy="1261872"/>
          </a:xfrm>
          <a:prstGeom prst="roundRect">
            <a:avLst/>
          </a:prstGeom>
          <a:solidFill>
            <a:srgbClr val="16182C"/>
          </a:solidFill>
          <a:ln>
            <a:solidFill>
              <a:srgbClr val="2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78440" y="1371600"/>
            <a:ext cx="13533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C9D0EE"/>
                </a:solidFill>
                <a:latin typeface="Calibri"/>
              </a:rPr>
              <a:t>FitTrack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52360" y="2468880"/>
            <a:ext cx="1353312" cy="1261872"/>
          </a:xfrm>
          <a:prstGeom prst="roundRect">
            <a:avLst/>
          </a:prstGeom>
          <a:solidFill>
            <a:srgbClr val="16182C"/>
          </a:solidFill>
          <a:ln>
            <a:solidFill>
              <a:srgbClr val="2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52360" y="2788920"/>
            <a:ext cx="13533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C9D0EE"/>
                </a:solidFill>
                <a:latin typeface="Calibri"/>
              </a:rPr>
              <a:t>QuizNight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378440" y="2468880"/>
            <a:ext cx="1353312" cy="1261872"/>
          </a:xfrm>
          <a:prstGeom prst="roundRect">
            <a:avLst/>
          </a:prstGeom>
          <a:solidFill>
            <a:srgbClr val="16182C"/>
          </a:solidFill>
          <a:ln>
            <a:solidFill>
              <a:srgbClr val="2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378440" y="2788920"/>
            <a:ext cx="13533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C9D0EE"/>
                </a:solidFill>
                <a:latin typeface="Calibri"/>
              </a:rPr>
              <a:t>ResumeFix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52360" y="3886200"/>
            <a:ext cx="1353312" cy="1261872"/>
          </a:xfrm>
          <a:prstGeom prst="roundRect">
            <a:avLst/>
          </a:prstGeom>
          <a:solidFill>
            <a:srgbClr val="16182C"/>
          </a:solidFill>
          <a:ln>
            <a:solidFill>
              <a:srgbClr val="2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52360" y="4206240"/>
            <a:ext cx="13533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C9D0EE"/>
                </a:solidFill>
                <a:latin typeface="Calibri"/>
              </a:rPr>
              <a:t>HabitKit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15400" y="3886200"/>
            <a:ext cx="1353312" cy="1261872"/>
          </a:xfrm>
          <a:prstGeom prst="roundRect">
            <a:avLst/>
          </a:prstGeom>
          <a:solidFill>
            <a:srgbClr val="16182C"/>
          </a:solidFill>
          <a:ln>
            <a:solidFill>
              <a:srgbClr val="2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15400" y="4206240"/>
            <a:ext cx="13533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C9D0EE"/>
                </a:solidFill>
                <a:latin typeface="Calibri"/>
              </a:rPr>
              <a:t>DashLite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15400" y="2468880"/>
            <a:ext cx="1353312" cy="1261872"/>
          </a:xfrm>
          <a:prstGeom prst="roundRect">
            <a:avLst/>
          </a:prstGeom>
          <a:solidFill>
            <a:srgbClr val="0A2A36"/>
          </a:solidFill>
          <a:ln>
            <a:solidFill>
              <a:srgbClr val="2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15400" y="2697480"/>
            <a:ext cx="13533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5CE1FF"/>
                </a:solidFill>
                <a:latin typeface="Calibri"/>
              </a:rPr>
              <a:t>TinyInvoice
live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52360" y="580644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5CE1FF"/>
                </a:solidFill>
                <a:latin typeface="Calibri"/>
              </a:rPr>
              <a:t>→ paying customers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7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CE1FF"/>
                </a:solidFill>
                <a:latin typeface="Consolas"/>
              </a:rPr>
              <a:t>SMALL PRODUCTS CAN BECOME REAL BUSINESSES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7F8FF"/>
                </a:solidFill>
                <a:latin typeface="Calibri"/>
              </a:rPr>
              <a:t>You don't need the next Instagram.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2588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CE1FF"/>
                </a:solidFill>
                <a:latin typeface="Calibri"/>
              </a:rPr>
              <a:t>Even a tiny utility solving one meaningful problem can become a sellable product.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74519"/>
            <a:ext cx="2743200" cy="4297680"/>
          </a:xfrm>
          <a:prstGeom prst="roundRect">
            <a:avLst/>
          </a:prstGeom>
          <a:solidFill>
            <a:srgbClr val="121428"/>
          </a:solidFill>
          <a:ln>
            <a:solidFill>
              <a:srgbClr val="2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01168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7F8FF"/>
                </a:solidFill>
                <a:latin typeface="Calibri"/>
              </a:rPr>
              <a:t>Mini Games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651760"/>
            <a:ext cx="2468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9D0EE"/>
                </a:solidFill>
                <a:latin typeface="Calibri"/>
              </a:rPr>
              <a:t>Daily puzzle · word guess
multiplayer quiz · browser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02920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CE1FF"/>
                </a:solidFill>
                <a:latin typeface="Calibri"/>
              </a:rPr>
              <a:t>Paid levels, cosmetics, ads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1874519"/>
            <a:ext cx="2743200" cy="4297680"/>
          </a:xfrm>
          <a:prstGeom prst="roundRect">
            <a:avLst/>
          </a:prstGeom>
          <a:solidFill>
            <a:srgbClr val="121428"/>
          </a:solidFill>
          <a:ln>
            <a:solidFill>
              <a:srgbClr val="2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0440" y="201168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7F8FF"/>
                </a:solidFill>
                <a:latin typeface="Calibri"/>
              </a:rPr>
              <a:t>Mini Apps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2651760"/>
            <a:ext cx="2468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9D0EE"/>
                </a:solidFill>
                <a:latin typeface="Calibri"/>
              </a:rPr>
              <a:t>Supermeme.ai · DroidClaw
resume · PDF · expense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502920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CE1FF"/>
                </a:solidFill>
                <a:latin typeface="Calibri"/>
              </a:rPr>
              <a:t>One-time, credits, subs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874519"/>
            <a:ext cx="2743200" cy="4297680"/>
          </a:xfrm>
          <a:prstGeom prst="roundRect">
            <a:avLst/>
          </a:prstGeom>
          <a:solidFill>
            <a:srgbClr val="121428"/>
          </a:solidFill>
          <a:ln>
            <a:solidFill>
              <a:srgbClr val="2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201168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7F8FF"/>
                </a:solidFill>
                <a:latin typeface="Calibri"/>
              </a:rPr>
              <a:t>Micro-SaaS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651760"/>
            <a:ext cx="2468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9D0EE"/>
                </a:solidFill>
                <a:latin typeface="Calibri"/>
              </a:rPr>
              <a:t>Invoice reminders · scheduling
inventory · booking · dashboards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502920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CE1FF"/>
                </a:solidFill>
                <a:latin typeface="Calibri"/>
              </a:rPr>
              <a:t>Monthly, usage, licenses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35440" y="1874519"/>
            <a:ext cx="2743200" cy="4297680"/>
          </a:xfrm>
          <a:prstGeom prst="roundRect">
            <a:avLst/>
          </a:prstGeom>
          <a:solidFill>
            <a:srgbClr val="121428"/>
          </a:solidFill>
          <a:ln>
            <a:solidFill>
              <a:srgbClr val="2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72600" y="201168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7F8FF"/>
                </a:solidFill>
                <a:latin typeface="Calibri"/>
              </a:rPr>
              <a:t>Developer Tools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72600" y="2651760"/>
            <a:ext cx="2468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9D0EE"/>
                </a:solidFill>
                <a:latin typeface="Calibri"/>
              </a:rPr>
              <a:t>Android perf · CI/CD
API tests · log analysis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72600" y="502920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CE1FF"/>
                </a:solidFill>
                <a:latin typeface="Calibri"/>
              </a:rPr>
              <a:t>Hosted, team, one-time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7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CE1FF"/>
                </a:solidFill>
                <a:latin typeface="Consolas"/>
              </a:rPr>
              <a:t>START MONETIZING, NOT JUST CODING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1556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7F8FF"/>
                </a:solidFill>
                <a:latin typeface="Calibri"/>
              </a:rPr>
              <a:t>Your first paying customer matters more than another unfinished feature.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783080"/>
            <a:ext cx="1828800" cy="1051560"/>
          </a:xfrm>
          <a:prstGeom prst="roundRect">
            <a:avLst/>
          </a:prstGeom>
          <a:solidFill>
            <a:srgbClr val="101A2C"/>
          </a:solidFill>
          <a:ln>
            <a:solidFill>
              <a:srgbClr val="2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201168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7F8FF"/>
                </a:solidFill>
                <a:latin typeface="Calibri"/>
              </a:rPr>
              <a:t>Idea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377440" y="1783080"/>
            <a:ext cx="1828800" cy="1051560"/>
          </a:xfrm>
          <a:prstGeom prst="roundRect">
            <a:avLst/>
          </a:prstGeom>
          <a:solidFill>
            <a:srgbClr val="101A2C"/>
          </a:solidFill>
          <a:ln>
            <a:solidFill>
              <a:srgbClr val="2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77440" y="201168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7F8FF"/>
                </a:solidFill>
                <a:latin typeface="Calibri"/>
              </a:rPr>
              <a:t>MVP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783080"/>
            <a:ext cx="1828800" cy="1051560"/>
          </a:xfrm>
          <a:prstGeom prst="roundRect">
            <a:avLst/>
          </a:prstGeom>
          <a:solidFill>
            <a:srgbClr val="101A2C"/>
          </a:solidFill>
          <a:ln>
            <a:solidFill>
              <a:srgbClr val="2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43400" y="201168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7F8FF"/>
                </a:solidFill>
                <a:latin typeface="Calibri"/>
              </a:rPr>
              <a:t>Real user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59" y="1783080"/>
            <a:ext cx="1828800" cy="1051560"/>
          </a:xfrm>
          <a:prstGeom prst="roundRect">
            <a:avLst/>
          </a:prstGeom>
          <a:solidFill>
            <a:srgbClr val="101A2C"/>
          </a:solidFill>
          <a:ln>
            <a:solidFill>
              <a:srgbClr val="2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59" y="201168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7F8FF"/>
                </a:solidFill>
                <a:latin typeface="Calibri"/>
              </a:rPr>
              <a:t>Payment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19" y="1783080"/>
            <a:ext cx="1828800" cy="1051560"/>
          </a:xfrm>
          <a:prstGeom prst="roundRect">
            <a:avLst/>
          </a:prstGeom>
          <a:solidFill>
            <a:srgbClr val="101A2C"/>
          </a:solidFill>
          <a:ln>
            <a:solidFill>
              <a:srgbClr val="2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19" y="201168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7F8FF"/>
                </a:solidFill>
                <a:latin typeface="Calibri"/>
              </a:rPr>
              <a:t>Feedback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241280" y="1783080"/>
            <a:ext cx="1828800" cy="1051560"/>
          </a:xfrm>
          <a:prstGeom prst="roundRect">
            <a:avLst/>
          </a:prstGeom>
          <a:solidFill>
            <a:srgbClr val="101A2C"/>
          </a:solidFill>
          <a:ln>
            <a:solidFill>
              <a:srgbClr val="2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41280" y="201168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7F8FF"/>
                </a:solidFill>
                <a:latin typeface="Calibri"/>
              </a:rPr>
              <a:t>Better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" y="3063240"/>
            <a:ext cx="1572768" cy="384048"/>
          </a:xfrm>
          <a:prstGeom prst="roundRect">
            <a:avLst/>
          </a:prstGeom>
          <a:solidFill>
            <a:srgbClr val="2A1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3090672"/>
            <a:ext cx="15727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7F8FF"/>
                </a:solidFill>
                <a:latin typeface="Calibri"/>
              </a:rPr>
              <a:t>₹99–₹499 one-time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084832" y="3063240"/>
            <a:ext cx="1572768" cy="384048"/>
          </a:xfrm>
          <a:prstGeom prst="roundRect">
            <a:avLst/>
          </a:prstGeom>
          <a:solidFill>
            <a:srgbClr val="2A1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084832" y="3090672"/>
            <a:ext cx="15727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7F8FF"/>
                </a:solidFill>
                <a:latin typeface="Calibri"/>
              </a:rPr>
              <a:t>₹199/month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758184" y="3063240"/>
            <a:ext cx="1572768" cy="384048"/>
          </a:xfrm>
          <a:prstGeom prst="roundRect">
            <a:avLst/>
          </a:prstGeom>
          <a:solidFill>
            <a:srgbClr val="2A1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58184" y="3090672"/>
            <a:ext cx="15727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7F8FF"/>
                </a:solidFill>
                <a:latin typeface="Calibri"/>
              </a:rPr>
              <a:t>Freemium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31536" y="3063240"/>
            <a:ext cx="1572768" cy="384048"/>
          </a:xfrm>
          <a:prstGeom prst="roundRect">
            <a:avLst/>
          </a:prstGeom>
          <a:solidFill>
            <a:srgbClr val="2A1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31536" y="3090672"/>
            <a:ext cx="15727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7F8FF"/>
                </a:solidFill>
                <a:latin typeface="Calibri"/>
              </a:rPr>
              <a:t>Credits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04888" y="3063240"/>
            <a:ext cx="1572768" cy="384048"/>
          </a:xfrm>
          <a:prstGeom prst="roundRect">
            <a:avLst/>
          </a:prstGeom>
          <a:solidFill>
            <a:srgbClr val="2A1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04888" y="3090672"/>
            <a:ext cx="15727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7F8FF"/>
                </a:solidFill>
                <a:latin typeface="Calibri"/>
              </a:rPr>
              <a:t>Team plans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778240" y="3063240"/>
            <a:ext cx="1572768" cy="384048"/>
          </a:xfrm>
          <a:prstGeom prst="roundRect">
            <a:avLst/>
          </a:prstGeom>
          <a:solidFill>
            <a:srgbClr val="2A1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78240" y="3090672"/>
            <a:ext cx="15727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7F8FF"/>
                </a:solidFill>
                <a:latin typeface="Calibri"/>
              </a:rPr>
              <a:t>Preorders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451592" y="3063240"/>
            <a:ext cx="1572768" cy="384048"/>
          </a:xfrm>
          <a:prstGeom prst="roundRect">
            <a:avLst/>
          </a:prstGeom>
          <a:solidFill>
            <a:srgbClr val="2A1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451592" y="3090672"/>
            <a:ext cx="15727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7F8FF"/>
                </a:solidFill>
                <a:latin typeface="Calibri"/>
              </a:rPr>
              <a:t>Memberships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11480" y="3703320"/>
            <a:ext cx="2743200" cy="2468880"/>
          </a:xfrm>
          <a:prstGeom prst="roundRect">
            <a:avLst/>
          </a:prstGeom>
          <a:solidFill>
            <a:srgbClr val="121428"/>
          </a:solidFill>
          <a:ln>
            <a:solidFill>
              <a:srgbClr val="2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38404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CE1FF"/>
                </a:solidFill>
                <a:latin typeface="Calibri"/>
              </a:rPr>
              <a:t>01  Landing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4297680"/>
            <a:ext cx="2468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7F8FF"/>
                </a:solidFill>
                <a:latin typeface="Calibri"/>
              </a:rPr>
              <a:t>Problem + price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337560" y="3703320"/>
            <a:ext cx="2743200" cy="2468880"/>
          </a:xfrm>
          <a:prstGeom prst="roundRect">
            <a:avLst/>
          </a:prstGeom>
          <a:solidFill>
            <a:srgbClr val="121428"/>
          </a:solidFill>
          <a:ln>
            <a:solidFill>
              <a:srgbClr val="2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474720" y="38404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CE1FF"/>
                </a:solidFill>
                <a:latin typeface="Calibri"/>
              </a:rPr>
              <a:t>02  Pricing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74720" y="4297680"/>
            <a:ext cx="2468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7F8FF"/>
                </a:solidFill>
                <a:latin typeface="Calibri"/>
              </a:rPr>
              <a:t>Pick a plan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63640" y="3703320"/>
            <a:ext cx="2743200" cy="2468880"/>
          </a:xfrm>
          <a:prstGeom prst="roundRect">
            <a:avLst/>
          </a:prstGeom>
          <a:solidFill>
            <a:srgbClr val="121428"/>
          </a:solidFill>
          <a:ln>
            <a:solidFill>
              <a:srgbClr val="2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0" y="38404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CE1FF"/>
                </a:solidFill>
                <a:latin typeface="Calibri"/>
              </a:rPr>
              <a:t>03  Checkout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4297680"/>
            <a:ext cx="2468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7F8FF"/>
                </a:solidFill>
                <a:latin typeface="Calibri"/>
              </a:rPr>
              <a:t>Razorpay / Stripe / IAP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89720" y="3703320"/>
            <a:ext cx="2743200" cy="2468880"/>
          </a:xfrm>
          <a:prstGeom prst="roundRect">
            <a:avLst/>
          </a:prstGeom>
          <a:solidFill>
            <a:srgbClr val="121428"/>
          </a:solidFill>
          <a:ln>
            <a:solidFill>
              <a:srgbClr val="2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326880" y="38404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CE1FF"/>
                </a:solidFill>
                <a:latin typeface="Calibri"/>
              </a:rPr>
              <a:t>04  Confirmation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26880" y="4297680"/>
            <a:ext cx="2468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7F8FF"/>
                </a:solidFill>
                <a:latin typeface="Calibri"/>
              </a:rPr>
              <a:t>Receipt + access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7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CE1FF"/>
                </a:solidFill>
                <a:latin typeface="Consolas"/>
              </a:rPr>
              <a:t>SHIP, TRACK, LEARN, REPEAT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7F8FF"/>
                </a:solidFill>
                <a:latin typeface="Calibri"/>
              </a:rPr>
              <a:t>A launch without feedback is just a deployment.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691640"/>
            <a:ext cx="1828800" cy="868680"/>
          </a:xfrm>
          <a:prstGeom prst="roundRect">
            <a:avLst/>
          </a:prstGeom>
          <a:solidFill>
            <a:srgbClr val="101A2C"/>
          </a:solidFill>
          <a:ln>
            <a:solidFill>
              <a:srgbClr val="2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9202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7F8FF"/>
                </a:solidFill>
                <a:latin typeface="Calibri"/>
              </a:rPr>
              <a:t>Launch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377440" y="1691640"/>
            <a:ext cx="1828800" cy="868680"/>
          </a:xfrm>
          <a:prstGeom prst="roundRect">
            <a:avLst/>
          </a:prstGeom>
          <a:solidFill>
            <a:srgbClr val="101A2C"/>
          </a:solidFill>
          <a:ln>
            <a:solidFill>
              <a:srgbClr val="2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77440" y="19202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7F8FF"/>
                </a:solidFill>
                <a:latin typeface="Calibri"/>
              </a:rPr>
              <a:t>Analytics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691640"/>
            <a:ext cx="1828800" cy="868680"/>
          </a:xfrm>
          <a:prstGeom prst="roundRect">
            <a:avLst/>
          </a:prstGeom>
          <a:solidFill>
            <a:srgbClr val="101A2C"/>
          </a:solidFill>
          <a:ln>
            <a:solidFill>
              <a:srgbClr val="2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43400" y="19202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7F8FF"/>
                </a:solidFill>
                <a:latin typeface="Calibri"/>
              </a:rPr>
              <a:t>Feedback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2743200"/>
            <a:ext cx="1828800" cy="868680"/>
          </a:xfrm>
          <a:prstGeom prst="roundRect">
            <a:avLst/>
          </a:prstGeom>
          <a:solidFill>
            <a:srgbClr val="101A2C"/>
          </a:solidFill>
          <a:ln>
            <a:solidFill>
              <a:srgbClr val="2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29718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7F8FF"/>
                </a:solidFill>
                <a:latin typeface="Calibri"/>
              </a:rPr>
              <a:t>Improve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377440" y="2743200"/>
            <a:ext cx="1828800" cy="868680"/>
          </a:xfrm>
          <a:prstGeom prst="roundRect">
            <a:avLst/>
          </a:prstGeom>
          <a:solidFill>
            <a:srgbClr val="101A2C"/>
          </a:solidFill>
          <a:ln>
            <a:solidFill>
              <a:srgbClr val="2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377440" y="29718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7F8FF"/>
                </a:solidFill>
                <a:latin typeface="Calibri"/>
              </a:rPr>
              <a:t>Retention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2743200"/>
            <a:ext cx="1828800" cy="868680"/>
          </a:xfrm>
          <a:prstGeom prst="roundRect">
            <a:avLst/>
          </a:prstGeom>
          <a:solidFill>
            <a:srgbClr val="101A2C"/>
          </a:solidFill>
          <a:ln>
            <a:solidFill>
              <a:srgbClr val="2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43400" y="29718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7F8FF"/>
                </a:solidFill>
                <a:latin typeface="Calibri"/>
              </a:rPr>
              <a:t>Revenue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1691640"/>
            <a:ext cx="5303520" cy="1005840"/>
          </a:xfrm>
          <a:prstGeom prst="roundRect">
            <a:avLst/>
          </a:prstGeom>
          <a:solidFill>
            <a:srgbClr val="121428"/>
          </a:solidFill>
          <a:ln>
            <a:solidFill>
              <a:srgbClr val="2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176479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CE1FF"/>
                </a:solidFill>
                <a:latin typeface="Calibri"/>
              </a:rPr>
              <a:t>Analytics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2075688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7F8FF"/>
                </a:solidFill>
                <a:latin typeface="Calibri"/>
              </a:rPr>
              <a:t>PostHog · Firebase Analytics · Mixpanel · Plausible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2788920"/>
            <a:ext cx="5303520" cy="1005840"/>
          </a:xfrm>
          <a:prstGeom prst="roundRect">
            <a:avLst/>
          </a:prstGeom>
          <a:solidFill>
            <a:srgbClr val="121428"/>
          </a:solidFill>
          <a:ln>
            <a:solidFill>
              <a:srgbClr val="2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37960" y="286207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CE1FF"/>
                </a:solidFill>
                <a:latin typeface="Calibri"/>
              </a:rPr>
              <a:t>Support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3172968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7F8FF"/>
                </a:solidFill>
                <a:latin typeface="Calibri"/>
              </a:rPr>
              <a:t>Discord · GitHub Discussions · email · forms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3886200"/>
            <a:ext cx="5303520" cy="1005840"/>
          </a:xfrm>
          <a:prstGeom prst="roundRect">
            <a:avLst/>
          </a:prstGeom>
          <a:solidFill>
            <a:srgbClr val="121428"/>
          </a:solidFill>
          <a:ln>
            <a:solidFill>
              <a:srgbClr val="2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60" y="395935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CE1FF"/>
                </a:solidFill>
                <a:latin typeface="Calibri"/>
              </a:rPr>
              <a:t>Distribution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7960" y="4270248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7F8FF"/>
                </a:solidFill>
                <a:latin typeface="Calibri"/>
              </a:rPr>
              <a:t>X · LinkedIn · Reddit · Product Hunt · YouTube · Instagram · SEO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0" y="4983479"/>
            <a:ext cx="5303520" cy="1005840"/>
          </a:xfrm>
          <a:prstGeom prst="roundRect">
            <a:avLst/>
          </a:prstGeom>
          <a:solidFill>
            <a:srgbClr val="121428"/>
          </a:solidFill>
          <a:ln>
            <a:solidFill>
              <a:srgbClr val="2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37960" y="5056631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CE1FF"/>
                </a:solidFill>
                <a:latin typeface="Calibri"/>
              </a:rPr>
              <a:t>Quality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60" y="5367527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7F8FF"/>
                </a:solidFill>
                <a:latin typeface="Calibri"/>
              </a:rPr>
              <a:t>Sentry · Firebase Crashlytics · user-reported issues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598932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5CE1FF"/>
                </a:solidFill>
                <a:latin typeface="Calibri"/>
              </a:rPr>
              <a:t>Nobody needs every tool. Shipping starts the loop.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7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CE1FF"/>
                </a:solidFill>
                <a:latin typeface="Consolas"/>
              </a:rPr>
              <a:t>YOUR SIMPLEST PATH TO REVENUE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7F8FF"/>
                </a:solidFill>
                <a:latin typeface="Calibri"/>
              </a:rPr>
              <a:t>Can you earn your first ₹1,000?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80160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5CE1FF"/>
                </a:solidFill>
                <a:latin typeface="Calibri"/>
              </a:rPr>
              <a:t>5  ×  ₹199  =  ₹995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05740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9D0EE"/>
                </a:solidFill>
                <a:latin typeface="Calibri"/>
              </a:rPr>
              <a:t>Illustrative gross revenue — before taxes and fees. Payment ≠ product-market fit.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2560320"/>
            <a:ext cx="1591056" cy="2331720"/>
          </a:xfrm>
          <a:prstGeom prst="roundRect">
            <a:avLst/>
          </a:prstGeom>
          <a:solidFill>
            <a:srgbClr val="121428"/>
          </a:solidFill>
          <a:ln>
            <a:solidFill>
              <a:srgbClr val="2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2697480"/>
            <a:ext cx="14447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CE1FF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3063240"/>
            <a:ext cx="144475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7F8FF"/>
                </a:solidFill>
                <a:latin typeface="Calibri"/>
              </a:rPr>
              <a:t>Identify one painful problem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48256" y="2560320"/>
            <a:ext cx="1591056" cy="2331720"/>
          </a:xfrm>
          <a:prstGeom prst="roundRect">
            <a:avLst/>
          </a:prstGeom>
          <a:solidFill>
            <a:srgbClr val="121428"/>
          </a:solidFill>
          <a:ln>
            <a:solidFill>
              <a:srgbClr val="2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21408" y="2697480"/>
            <a:ext cx="14447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CE1FF"/>
                </a:solidFill>
                <a:latin typeface="Calibr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21408" y="3063240"/>
            <a:ext cx="144475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7F8FF"/>
                </a:solidFill>
                <a:latin typeface="Calibri"/>
              </a:rPr>
              <a:t>Build the smallest useful solution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30752" y="2560320"/>
            <a:ext cx="1591056" cy="2331720"/>
          </a:xfrm>
          <a:prstGeom prst="roundRect">
            <a:avLst/>
          </a:prstGeom>
          <a:solidFill>
            <a:srgbClr val="121428"/>
          </a:solidFill>
          <a:ln>
            <a:solidFill>
              <a:srgbClr val="2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03904" y="2697480"/>
            <a:ext cx="14447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CE1FF"/>
                </a:solidFill>
                <a:latin typeface="Calibri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03904" y="3063240"/>
            <a:ext cx="144475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7F8FF"/>
                </a:solidFill>
                <a:latin typeface="Calibri"/>
              </a:rPr>
              <a:t>Landing page + pricing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13248" y="2560320"/>
            <a:ext cx="1591056" cy="2331720"/>
          </a:xfrm>
          <a:prstGeom prst="roundRect">
            <a:avLst/>
          </a:prstGeom>
          <a:solidFill>
            <a:srgbClr val="121428"/>
          </a:solidFill>
          <a:ln>
            <a:solidFill>
              <a:srgbClr val="2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0" y="2697480"/>
            <a:ext cx="14447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CE1FF"/>
                </a:solidFill>
                <a:latin typeface="Calibri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3063240"/>
            <a:ext cx="144475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7F8FF"/>
                </a:solidFill>
                <a:latin typeface="Calibri"/>
              </a:rPr>
              <a:t>Appropriate payment method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95744" y="2560320"/>
            <a:ext cx="1591056" cy="2331720"/>
          </a:xfrm>
          <a:prstGeom prst="roundRect">
            <a:avLst/>
          </a:prstGeom>
          <a:solidFill>
            <a:srgbClr val="121428"/>
          </a:solidFill>
          <a:ln>
            <a:solidFill>
              <a:srgbClr val="2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68896" y="2697480"/>
            <a:ext cx="14447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CE1FF"/>
                </a:solidFill>
                <a:latin typeface="Calibri"/>
              </a:rP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68896" y="3063240"/>
            <a:ext cx="144475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7F8FF"/>
                </a:solidFill>
                <a:latin typeface="Calibri"/>
              </a:rPr>
              <a:t>Share with potential users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78240" y="2560320"/>
            <a:ext cx="1591056" cy="2331720"/>
          </a:xfrm>
          <a:prstGeom prst="roundRect">
            <a:avLst/>
          </a:prstGeom>
          <a:solidFill>
            <a:srgbClr val="121428"/>
          </a:solidFill>
          <a:ln>
            <a:solidFill>
              <a:srgbClr val="2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51392" y="2697480"/>
            <a:ext cx="14447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CE1FF"/>
                </a:solidFill>
                <a:latin typeface="Calibri"/>
              </a:rPr>
              <a:t>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51392" y="3063240"/>
            <a:ext cx="144475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7F8FF"/>
                </a:solidFill>
                <a:latin typeface="Calibri"/>
              </a:rPr>
              <a:t>Measure and collect feedback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460736" y="2560320"/>
            <a:ext cx="1591056" cy="2331720"/>
          </a:xfrm>
          <a:prstGeom prst="roundRect">
            <a:avLst/>
          </a:prstGeom>
          <a:solidFill>
            <a:srgbClr val="121428"/>
          </a:solidFill>
          <a:ln>
            <a:solidFill>
              <a:srgbClr val="2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533888" y="2697480"/>
            <a:ext cx="14447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CE1FF"/>
                </a:solidFill>
                <a:latin typeface="Calibri"/>
              </a:rPr>
              <a:t>07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33888" y="3063240"/>
            <a:ext cx="144475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7F8FF"/>
                </a:solidFill>
                <a:latin typeface="Calibri"/>
              </a:rPr>
              <a:t>Improve from real behavior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11480" y="5074920"/>
            <a:ext cx="2743200" cy="1234440"/>
          </a:xfrm>
          <a:prstGeom prst="roundRect">
            <a:avLst/>
          </a:prstGeom>
          <a:solidFill>
            <a:srgbClr val="0A2A36"/>
          </a:solidFill>
          <a:ln>
            <a:solidFill>
              <a:srgbClr val="2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516636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5CE1FF"/>
                </a:solidFill>
                <a:latin typeface="Calibri"/>
              </a:rPr>
              <a:t>₹199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56235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7F8FF"/>
                </a:solidFill>
                <a:latin typeface="Calibri"/>
              </a:rPr>
              <a:t>browser extension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337560" y="5074920"/>
            <a:ext cx="2743200" cy="1234440"/>
          </a:xfrm>
          <a:prstGeom prst="roundRect">
            <a:avLst/>
          </a:prstGeom>
          <a:solidFill>
            <a:srgbClr val="0A2A36"/>
          </a:solidFill>
          <a:ln>
            <a:solidFill>
              <a:srgbClr val="2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474720" y="516636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5CE1FF"/>
                </a:solidFill>
                <a:latin typeface="Calibri"/>
              </a:rPr>
              <a:t>₹299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74720" y="56235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7F8FF"/>
                </a:solidFill>
                <a:latin typeface="Calibri"/>
              </a:rPr>
              <a:t>mobile utility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63640" y="5074920"/>
            <a:ext cx="2743200" cy="1234440"/>
          </a:xfrm>
          <a:prstGeom prst="roundRect">
            <a:avLst/>
          </a:prstGeom>
          <a:solidFill>
            <a:srgbClr val="0A2A36"/>
          </a:solidFill>
          <a:ln>
            <a:solidFill>
              <a:srgbClr val="2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0" y="516636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5CE1FF"/>
                </a:solidFill>
                <a:latin typeface="Calibri"/>
              </a:rPr>
              <a:t>₹499/mo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56235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7F8FF"/>
                </a:solidFill>
                <a:latin typeface="Calibri"/>
              </a:rPr>
              <a:t>small-business tool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89720" y="5074920"/>
            <a:ext cx="2743200" cy="1234440"/>
          </a:xfrm>
          <a:prstGeom prst="roundRect">
            <a:avLst/>
          </a:prstGeom>
          <a:solidFill>
            <a:srgbClr val="0A2A36"/>
          </a:solidFill>
          <a:ln>
            <a:solidFill>
              <a:srgbClr val="2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326880" y="516636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5CE1FF"/>
                </a:solidFill>
                <a:latin typeface="Calibri"/>
              </a:rPr>
              <a:t>Paid pack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26880" y="56235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7F8FF"/>
                </a:solidFill>
                <a:latin typeface="Calibri"/>
              </a:rPr>
              <a:t>mini-game levels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7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CE1FF"/>
                </a:solidFill>
                <a:latin typeface="Consolas"/>
              </a:rPr>
              <a:t>THE SHIPATON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7F8FF"/>
                </a:solidFill>
                <a:latin typeface="Calibri"/>
              </a:rPr>
              <a:t>BUILD ANYTHING. SHIP SOMETHING.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5CE1FF"/>
                </a:solidFill>
                <a:latin typeface="Calibri"/>
              </a:rPr>
              <a:t>Solo or team? We don't care.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2011680"/>
            <a:ext cx="2148840" cy="1783080"/>
          </a:xfrm>
          <a:prstGeom prst="roundRect">
            <a:avLst/>
          </a:prstGeom>
          <a:solidFill>
            <a:srgbClr val="161230"/>
          </a:solidFill>
          <a:ln>
            <a:solidFill>
              <a:srgbClr val="2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2651760"/>
            <a:ext cx="2148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7F8FF"/>
                </a:solidFill>
                <a:latin typeface="Calibri"/>
              </a:rPr>
              <a:t>Mini game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97480" y="2011680"/>
            <a:ext cx="2148840" cy="1783080"/>
          </a:xfrm>
          <a:prstGeom prst="roundRect">
            <a:avLst/>
          </a:prstGeom>
          <a:solidFill>
            <a:srgbClr val="161230"/>
          </a:solidFill>
          <a:ln>
            <a:solidFill>
              <a:srgbClr val="2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97480" y="2651760"/>
            <a:ext cx="2148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7F8FF"/>
                </a:solidFill>
                <a:latin typeface="Calibri"/>
              </a:rPr>
              <a:t>Mobile app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983480" y="2011680"/>
            <a:ext cx="2148840" cy="1783080"/>
          </a:xfrm>
          <a:prstGeom prst="roundRect">
            <a:avLst/>
          </a:prstGeom>
          <a:solidFill>
            <a:srgbClr val="161230"/>
          </a:solidFill>
          <a:ln>
            <a:solidFill>
              <a:srgbClr val="2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83480" y="2651760"/>
            <a:ext cx="2148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7F8FF"/>
                </a:solidFill>
                <a:latin typeface="Calibri"/>
              </a:rPr>
              <a:t>Web product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3977639"/>
            <a:ext cx="2148840" cy="1783080"/>
          </a:xfrm>
          <a:prstGeom prst="roundRect">
            <a:avLst/>
          </a:prstGeom>
          <a:solidFill>
            <a:srgbClr val="161230"/>
          </a:solidFill>
          <a:ln>
            <a:solidFill>
              <a:srgbClr val="2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4617719"/>
            <a:ext cx="2148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7F8FF"/>
                </a:solidFill>
                <a:latin typeface="Calibri"/>
              </a:rPr>
              <a:t>AI tool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697480" y="3977639"/>
            <a:ext cx="2148840" cy="1783080"/>
          </a:xfrm>
          <a:prstGeom prst="roundRect">
            <a:avLst/>
          </a:prstGeom>
          <a:solidFill>
            <a:srgbClr val="161230"/>
          </a:solidFill>
          <a:ln>
            <a:solidFill>
              <a:srgbClr val="2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97480" y="4617719"/>
            <a:ext cx="2148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7F8FF"/>
                </a:solidFill>
                <a:latin typeface="Calibri"/>
              </a:rPr>
              <a:t>Micro-SaaS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983480" y="3977639"/>
            <a:ext cx="2148840" cy="1783080"/>
          </a:xfrm>
          <a:prstGeom prst="roundRect">
            <a:avLst/>
          </a:prstGeom>
          <a:solidFill>
            <a:srgbClr val="161230"/>
          </a:solidFill>
          <a:ln>
            <a:solidFill>
              <a:srgbClr val="2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83480" y="4617719"/>
            <a:ext cx="2148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7F8FF"/>
                </a:solidFill>
                <a:latin typeface="Calibri"/>
              </a:rPr>
              <a:t>Dev tool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0" y="2011680"/>
            <a:ext cx="4434840" cy="731520"/>
          </a:xfrm>
          <a:prstGeom prst="roundRect">
            <a:avLst/>
          </a:prstGeom>
          <a:solidFill>
            <a:srgbClr val="121428"/>
          </a:solidFill>
          <a:ln>
            <a:solidFill>
              <a:srgbClr val="2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52360" y="2176272"/>
            <a:ext cx="4160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7F8FF"/>
                </a:solidFill>
                <a:latin typeface="Calibri"/>
              </a:rPr>
              <a:t>Individuals and teams are both welcome.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0" y="2834640"/>
            <a:ext cx="4434840" cy="731520"/>
          </a:xfrm>
          <a:prstGeom prst="roundRect">
            <a:avLst/>
          </a:prstGeom>
          <a:solidFill>
            <a:srgbClr val="121428"/>
          </a:solidFill>
          <a:ln>
            <a:solidFill>
              <a:srgbClr val="2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52360" y="2999232"/>
            <a:ext cx="4160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7F8FF"/>
                </a:solidFill>
                <a:latin typeface="Calibri"/>
              </a:rPr>
              <a:t>Existing products and brand-new ideas.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0" y="3657600"/>
            <a:ext cx="4434840" cy="731520"/>
          </a:xfrm>
          <a:prstGeom prst="roundRect">
            <a:avLst/>
          </a:prstGeom>
          <a:solidFill>
            <a:srgbClr val="121428"/>
          </a:solidFill>
          <a:ln>
            <a:solidFill>
              <a:srgbClr val="2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52360" y="3822192"/>
            <a:ext cx="4160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7F8FF"/>
                </a:solidFill>
                <a:latin typeface="Calibri"/>
              </a:rPr>
              <a:t>Any suitable stack. Any policy-compliant payment provider.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0" y="4480560"/>
            <a:ext cx="4434840" cy="731520"/>
          </a:xfrm>
          <a:prstGeom prst="roundRect">
            <a:avLst/>
          </a:prstGeom>
          <a:solidFill>
            <a:srgbClr val="121428"/>
          </a:solidFill>
          <a:ln>
            <a:solidFill>
              <a:srgbClr val="2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52360" y="4645152"/>
            <a:ext cx="4160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7F8FF"/>
                </a:solidFill>
                <a:latin typeface="Calibri"/>
              </a:rPr>
              <a:t>RevenueCat is a collaborator — not a requirement.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0" y="5303520"/>
            <a:ext cx="4434840" cy="731520"/>
          </a:xfrm>
          <a:prstGeom prst="roundRect">
            <a:avLst/>
          </a:prstGeom>
          <a:solidFill>
            <a:srgbClr val="121428"/>
          </a:solidFill>
          <a:ln>
            <a:solidFill>
              <a:srgbClr val="2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52360" y="5468112"/>
            <a:ext cx="4160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7F8FF"/>
                </a:solidFill>
                <a:latin typeface="Calibri"/>
              </a:rPr>
              <a:t>A workable monetization model counts. Big revenue this week is not required.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7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CE1FF"/>
                </a:solidFill>
                <a:latin typeface="Consolas"/>
              </a:rPr>
              <a:t>SUBMISSION +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7F8FF"/>
                </a:solidFill>
                <a:latin typeface="Calibri"/>
              </a:rPr>
              <a:t>One shared sheet. One place to track your progress.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17320"/>
            <a:ext cx="1078992" cy="384048"/>
          </a:xfrm>
          <a:prstGeom prst="rect">
            <a:avLst/>
          </a:prstGeom>
          <a:solidFill>
            <a:srgbClr val="188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444752"/>
            <a:ext cx="10789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7F8FF"/>
                </a:solidFill>
                <a:latin typeface="Calibri"/>
              </a:rPr>
              <a:t>Product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801368"/>
            <a:ext cx="1078992" cy="4572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874519"/>
            <a:ext cx="10789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1B2433"/>
                </a:solidFill>
                <a:latin typeface="Calibri"/>
              </a:rPr>
              <a:t>TinyInvoice</a:t>
            </a:r>
          </a:p>
        </p:txBody>
      </p:sp>
      <p:sp>
        <p:nvSpPr>
          <p:cNvPr id="9" name="Rectangle 8"/>
          <p:cNvSpPr/>
          <p:nvPr/>
        </p:nvSpPr>
        <p:spPr>
          <a:xfrm>
            <a:off x="1481328" y="1417320"/>
            <a:ext cx="1078992" cy="384048"/>
          </a:xfrm>
          <a:prstGeom prst="rect">
            <a:avLst/>
          </a:prstGeom>
          <a:solidFill>
            <a:srgbClr val="188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81328" y="1444752"/>
            <a:ext cx="10789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7F8FF"/>
                </a:solidFill>
                <a:latin typeface="Calibri"/>
              </a:rPr>
              <a:t>Team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481328" y="1801368"/>
            <a:ext cx="1078992" cy="4572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81328" y="1874519"/>
            <a:ext cx="10789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1B2433"/>
                </a:solidFill>
                <a:latin typeface="Calibri"/>
              </a:rPr>
              <a:t>Solo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96896" y="1417320"/>
            <a:ext cx="1078992" cy="384048"/>
          </a:xfrm>
          <a:prstGeom prst="rect">
            <a:avLst/>
          </a:prstGeom>
          <a:solidFill>
            <a:srgbClr val="188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96896" y="1444752"/>
            <a:ext cx="10789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7F8FF"/>
                </a:solidFill>
                <a:latin typeface="Calibri"/>
              </a:rPr>
              <a:t>Category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596896" y="1801368"/>
            <a:ext cx="1078992" cy="4572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96896" y="1874519"/>
            <a:ext cx="10789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1B2433"/>
                </a:solidFill>
                <a:latin typeface="Calibri"/>
              </a:rPr>
              <a:t>Micro-SaaS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712464" y="1417320"/>
            <a:ext cx="1078992" cy="384048"/>
          </a:xfrm>
          <a:prstGeom prst="rect">
            <a:avLst/>
          </a:prstGeom>
          <a:solidFill>
            <a:srgbClr val="188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12464" y="1444752"/>
            <a:ext cx="10789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7F8FF"/>
                </a:solidFill>
                <a:latin typeface="Calibri"/>
              </a:rPr>
              <a:t>URL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12464" y="1801368"/>
            <a:ext cx="1078992" cy="4572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12464" y="1874519"/>
            <a:ext cx="10789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1B2433"/>
                </a:solidFill>
                <a:latin typeface="Calibri"/>
              </a:rPr>
              <a:t>example.com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828032" y="1417320"/>
            <a:ext cx="1078992" cy="384048"/>
          </a:xfrm>
          <a:prstGeom prst="rect">
            <a:avLst/>
          </a:prstGeom>
          <a:solidFill>
            <a:srgbClr val="188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28032" y="1444752"/>
            <a:ext cx="10789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7F8FF"/>
                </a:solidFill>
                <a:latin typeface="Calibri"/>
              </a:rPr>
              <a:t>₹ model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828032" y="1801368"/>
            <a:ext cx="1078992" cy="4572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28032" y="1874519"/>
            <a:ext cx="10789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1B2433"/>
                </a:solidFill>
                <a:latin typeface="Calibri"/>
              </a:rPr>
              <a:t>₹199/mo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0" y="1417320"/>
            <a:ext cx="1078992" cy="384048"/>
          </a:xfrm>
          <a:prstGeom prst="rect">
            <a:avLst/>
          </a:prstGeom>
          <a:solidFill>
            <a:srgbClr val="188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0" y="1444752"/>
            <a:ext cx="10789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7F8FF"/>
                </a:solidFill>
                <a:latin typeface="Calibri"/>
              </a:rPr>
              <a:t>Pay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0" y="1801368"/>
            <a:ext cx="1078992" cy="4572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0" y="1874519"/>
            <a:ext cx="10789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1B2433"/>
                </a:solidFill>
                <a:latin typeface="Calibri"/>
              </a:rPr>
              <a:t>Live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059168" y="1417320"/>
            <a:ext cx="1078992" cy="384048"/>
          </a:xfrm>
          <a:prstGeom prst="rect">
            <a:avLst/>
          </a:prstGeom>
          <a:solidFill>
            <a:srgbClr val="188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059168" y="1444752"/>
            <a:ext cx="10789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7F8FF"/>
                </a:solidFill>
                <a:latin typeface="Calibri"/>
              </a:rPr>
              <a:t>Review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059168" y="1801368"/>
            <a:ext cx="1078992" cy="4572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059168" y="1874519"/>
            <a:ext cx="10789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1B2433"/>
                </a:solidFill>
                <a:latin typeface="Calibri"/>
              </a:rPr>
              <a:t>Review Ready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174736" y="1417320"/>
            <a:ext cx="1078992" cy="384048"/>
          </a:xfrm>
          <a:prstGeom prst="rect">
            <a:avLst/>
          </a:prstGeom>
          <a:solidFill>
            <a:srgbClr val="188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174736" y="1444752"/>
            <a:ext cx="10789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7F8FF"/>
                </a:solidFill>
                <a:latin typeface="Calibri"/>
              </a:rPr>
              <a:t>Thu ready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174736" y="1801368"/>
            <a:ext cx="1078992" cy="4572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174736" y="1874519"/>
            <a:ext cx="10789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1B2433"/>
                </a:solidFill>
                <a:latin typeface="Calibri"/>
              </a:rPr>
              <a:t>Yes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242316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9D0EE"/>
                </a:solidFill>
                <a:latin typeface="Calibri"/>
              </a:rPr>
              <a:t>Also: Repository URL · Payment Integration (Live / Test / Planned) · Deployment Status · Notes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306324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7F8FF"/>
                </a:solidFill>
                <a:latin typeface="Calibri"/>
              </a:rPr>
              <a:t>1. Fill the shared sheet.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352044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7F8FF"/>
                </a:solidFill>
                <a:latin typeface="Calibri"/>
              </a:rPr>
              <a:t>2. Update progress and product URLs.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3977639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7F8FF"/>
                </a:solidFill>
                <a:latin typeface="Calibri"/>
              </a:rPr>
              <a:t>3. You set Review Status → Review Ready.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" y="443484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7F8FF"/>
                </a:solidFill>
                <a:latin typeface="Calibri"/>
              </a:rPr>
              <a:t>4. Organizers review only those rows.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" y="489204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7F8FF"/>
                </a:solidFill>
                <a:latin typeface="Calibri"/>
              </a:rPr>
              <a:t>5. Organizers record the outcome.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" y="534924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7F8FF"/>
                </a:solidFill>
                <a:latin typeface="Calibri"/>
              </a:rPr>
              <a:t>Review Ready is your signal, not approval.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2920" y="580644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D27A"/>
                </a:solidFill>
                <a:latin typeface="Calibri"/>
              </a:rPr>
              <a:t>Sheet: SHEET_LINK_PLACEHOLDER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7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CE1FF"/>
                </a:solidFill>
                <a:latin typeface="Consolas"/>
              </a:rPr>
              <a:t>THE PRODUCTION-READY DEADLINE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7F8FF"/>
                </a:solidFill>
                <a:latin typeface="Calibri"/>
              </a:rPr>
              <a:t>Thursday is your shipping deadline.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417320"/>
            <a:ext cx="2788920" cy="1965960"/>
          </a:xfrm>
          <a:prstGeom prst="roundRect">
            <a:avLst/>
          </a:prstGeom>
          <a:solidFill>
            <a:srgbClr val="121428"/>
          </a:solidFill>
          <a:ln>
            <a:solidFill>
              <a:srgbClr val="2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508760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5CE1FF"/>
                </a:solidFill>
                <a:latin typeface="Calibri"/>
              </a:rPr>
              <a:t>CHALLENGE WEEK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78308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7F8FF"/>
                </a:solidFill>
                <a:latin typeface="Calibri"/>
              </a:rPr>
              <a:t>Build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286000"/>
            <a:ext cx="2514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9D0EE"/>
                </a:solidFill>
                <a:latin typeface="Calibri"/>
              </a:rPr>
              <a:t>Start new or improve what you have.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10128" y="1417320"/>
            <a:ext cx="2788920" cy="1965960"/>
          </a:xfrm>
          <a:prstGeom prst="roundRect">
            <a:avLst/>
          </a:prstGeom>
          <a:solidFill>
            <a:srgbClr val="121428"/>
          </a:solidFill>
          <a:ln>
            <a:solidFill>
              <a:srgbClr val="2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47288" y="1508760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5CE1FF"/>
                </a:solidFill>
                <a:latin typeface="Calibri"/>
              </a:rPr>
              <a:t>ANYTIME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47288" y="178308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7F8FF"/>
                </a:solidFill>
                <a:latin typeface="Calibri"/>
              </a:rPr>
              <a:t>Review Ready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47288" y="2286000"/>
            <a:ext cx="2514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9D0EE"/>
                </a:solidFill>
                <a:latin typeface="Calibri"/>
              </a:rPr>
              <a:t>You ask organizers to look.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54496" y="1417320"/>
            <a:ext cx="2788920" cy="1965960"/>
          </a:xfrm>
          <a:prstGeom prst="roundRect">
            <a:avLst/>
          </a:prstGeom>
          <a:solidFill>
            <a:srgbClr val="0A2A36"/>
          </a:solidFill>
          <a:ln>
            <a:solidFill>
              <a:srgbClr val="2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91656" y="1508760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5CE1FF"/>
                </a:solidFill>
                <a:latin typeface="Calibri"/>
              </a:rPr>
              <a:t>DEADLINE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91656" y="178308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7F8FF"/>
                </a:solidFill>
                <a:latin typeface="Calibri"/>
              </a:rPr>
              <a:t>Thursday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91656" y="2286000"/>
            <a:ext cx="2514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9D0EE"/>
                </a:solidFill>
                <a:latin typeface="Calibri"/>
              </a:rPr>
              <a:t>Deployed and production-ready.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98864" y="1417320"/>
            <a:ext cx="2788920" cy="1965960"/>
          </a:xfrm>
          <a:prstGeom prst="roundRect">
            <a:avLst/>
          </a:prstGeom>
          <a:solidFill>
            <a:srgbClr val="121428"/>
          </a:solidFill>
          <a:ln>
            <a:solidFill>
              <a:srgbClr val="2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36024" y="1508760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5CE1FF"/>
                </a:solidFill>
                <a:latin typeface="Calibri"/>
              </a:rPr>
              <a:t>AFTER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36024" y="178308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7F8FF"/>
                </a:solidFill>
                <a:latin typeface="Calibri"/>
              </a:rPr>
              <a:t>Reviewed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36024" y="2286000"/>
            <a:ext cx="2514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9D0EE"/>
                </a:solidFill>
                <a:latin typeface="Calibri"/>
              </a:rPr>
              <a:t>Organizers score execution.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" y="3566160"/>
            <a:ext cx="5669280" cy="1325880"/>
          </a:xfrm>
          <a:prstGeom prst="roundRect">
            <a:avLst/>
          </a:prstGeom>
          <a:solidFill>
            <a:srgbClr val="121428"/>
          </a:solidFill>
          <a:ln>
            <a:solidFill>
              <a:srgbClr val="2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365760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5CE1FF"/>
                </a:solidFill>
                <a:latin typeface="Calibri"/>
              </a:rPr>
              <a:t>Review Ready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069080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7F8FF"/>
                </a:solidFill>
                <a:latin typeface="Calibri"/>
              </a:rPr>
              <a:t>You want organizers to review. Participant-controlled. Not the same as shipped.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3566160"/>
            <a:ext cx="5577840" cy="1325880"/>
          </a:xfrm>
          <a:prstGeom prst="roundRect">
            <a:avLst/>
          </a:prstGeom>
          <a:solidFill>
            <a:srgbClr val="121428"/>
          </a:solidFill>
          <a:ln>
            <a:solidFill>
              <a:srgbClr val="2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36576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5CE1FF"/>
                </a:solidFill>
                <a:latin typeface="Calibri"/>
              </a:rPr>
              <a:t>Production Ready by Thursday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406908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7F8FF"/>
                </a:solidFill>
                <a:latin typeface="Calibri"/>
              </a:rPr>
              <a:t>Deployed and usable. Extra prize eligibility — not an automatic win.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502920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7F8FF"/>
                </a:solidFill>
                <a:latin typeface="Calibri"/>
              </a:rPr>
              <a:t>▸  Working production URL or accessible release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502920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7F8FF"/>
                </a:solidFill>
                <a:latin typeface="Calibri"/>
              </a:rPr>
              <a:t>▸  Core functionality works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5413248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7F8FF"/>
                </a:solidFill>
                <a:latin typeface="Calibri"/>
              </a:rPr>
              <a:t>▸  Usable onboarding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5413248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7F8FF"/>
                </a:solidFill>
                <a:latin typeface="Calibri"/>
              </a:rPr>
              <a:t>▸  No critical blockers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5797296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7F8FF"/>
                </a:solidFill>
                <a:latin typeface="Calibri"/>
              </a:rPr>
              <a:t>▸  Clear monetization approach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60" y="5797296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7F8FF"/>
                </a:solidFill>
                <a:latin typeface="Calibri"/>
              </a:rPr>
              <a:t>▸  Payment flow functioning when applicable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181344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7F8FF"/>
                </a:solidFill>
                <a:latin typeface="Calibri"/>
              </a:rPr>
              <a:t>▸  Basic analytics or feedback collection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60" y="6181344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7F8FF"/>
                </a:solidFill>
                <a:latin typeface="Calibri"/>
              </a:rPr>
              <a:t>▸  Enough information for organizers to test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7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CE1FF"/>
                </a:solidFill>
                <a:latin typeface="Consolas"/>
              </a:rPr>
              <a:t>TICKETS, PRIZES, RECOGNITION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7F8FF"/>
                </a:solidFill>
                <a:latin typeface="Calibri"/>
              </a:rPr>
              <a:t>SHIP IT. GET REVIEWED. WIN BIG.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417320"/>
            <a:ext cx="5029200" cy="3246120"/>
          </a:xfrm>
          <a:prstGeom prst="roundRect">
            <a:avLst/>
          </a:prstGeom>
          <a:solidFill>
            <a:srgbClr val="1A1622"/>
          </a:solidFill>
          <a:ln>
            <a:solidFill>
              <a:srgbClr val="2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D27A"/>
                </a:solidFill>
                <a:latin typeface="Calibri"/>
              </a:rPr>
              <a:t>ADMIT ONE  ·  DEVFEST CHENNAI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7F8FF"/>
                </a:solidFill>
                <a:latin typeface="Calibri"/>
              </a:rPr>
              <a:t>Selected winners get DevFest tickets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657600"/>
            <a:ext cx="4663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D27A"/>
                </a:solidFill>
                <a:latin typeface="Calibri"/>
              </a:rPr>
              <a:t>Sat 17 Oct 2026 · IITM Research Park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0" y="1417320"/>
            <a:ext cx="6080760" cy="731520"/>
          </a:xfrm>
          <a:prstGeom prst="roundRect">
            <a:avLst/>
          </a:prstGeom>
          <a:solidFill>
            <a:srgbClr val="121428"/>
          </a:solidFill>
          <a:ln>
            <a:solidFill>
              <a:srgbClr val="2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0" y="1554480"/>
            <a:ext cx="5760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7F8FF"/>
                </a:solidFill>
                <a:latin typeface="Calibri"/>
              </a:rPr>
              <a:t>Organizers review products. Selected winners receive DevFest Chennai tickets.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0" y="2240280"/>
            <a:ext cx="6080760" cy="731520"/>
          </a:xfrm>
          <a:prstGeom prst="roundRect">
            <a:avLst/>
          </a:prstGeom>
          <a:solidFill>
            <a:srgbClr val="121428"/>
          </a:solidFill>
          <a:ln>
            <a:solidFill>
              <a:srgbClr val="2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52160" y="2377440"/>
            <a:ext cx="5760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7F8FF"/>
                </a:solidFill>
                <a:latin typeface="Calibri"/>
              </a:rPr>
              <a:t>Prizes are also awarded at DevFest itself.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0" y="3063240"/>
            <a:ext cx="6080760" cy="731520"/>
          </a:xfrm>
          <a:prstGeom prst="roundRect">
            <a:avLst/>
          </a:prstGeom>
          <a:solidFill>
            <a:srgbClr val="121428"/>
          </a:solidFill>
          <a:ln>
            <a:solidFill>
              <a:srgbClr val="2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52160" y="3200400"/>
            <a:ext cx="5760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7F8FF"/>
                </a:solidFill>
                <a:latin typeface="Calibri"/>
              </a:rPr>
              <a:t>Thursday production-ready teams are considered for an additional prize — eligibility, not a guarantee.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0" y="3886200"/>
            <a:ext cx="6080760" cy="731520"/>
          </a:xfrm>
          <a:prstGeom prst="roundRect">
            <a:avLst/>
          </a:prstGeom>
          <a:solidFill>
            <a:srgbClr val="121428"/>
          </a:solidFill>
          <a:ln>
            <a:solidFill>
              <a:srgbClr val="2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52160" y="4023360"/>
            <a:ext cx="5760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7F8FF"/>
                </a:solidFill>
                <a:latin typeface="Calibri"/>
              </a:rPr>
              <a:t>We recognize execution, utility, quality, monetization thinking, and the ability to ship.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84632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B794FF"/>
                </a:solidFill>
                <a:latin typeface="Calibri"/>
              </a:rPr>
              <a:t>Usefulness  ·  Execution  ·  UX  ·  Monetization potential  ·  Real deployment  ·  Learning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5349240"/>
            <a:ext cx="111556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7F8FF"/>
                </a:solidFill>
                <a:latin typeface="Calibri"/>
              </a:rPr>
              <a:t>Don't just build another side project. Build something people can use, ship it to the world, and see if someone is willing to pay for it.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7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mp3smv7zd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76"/>
            <a:ext cx="12191695" cy="609584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