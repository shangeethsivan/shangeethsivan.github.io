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Indha poster-ah vechi vidunga. Title over-ah padikkaathinga.</a:t>
            </a:r>
          </a:p>
          <a:p>
            <a:r>
              <a:t>Leave the poster up. Do not read a second title over it. The art already names Shipaton, Road to DevFest, Kotlin Edition, and the partners on the card.</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Vanakkam. Indha card-ah vechi vidunga.</a:t>
            </a:r>
          </a:p>
          <a:p>
            <a:r>
              <a:t>Leave the card up. The art already names the talk, Shangeeth Sivan, and KUG Chennai. Do not read a second title over it.</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Build panna theriyum. Pay vaangardhu dhaan kashtam. Adhukku resilience venum.</a:t>
            </a:r>
          </a:p>
          <a:p>
            <a:r>
              <a:t>Vibe coding is easy. Getting someone to pay takes resilience.</a:t>
            </a:r>
          </a:p>
          <a:p>
            <a:r>
              <a:t>https://www.youtube.com/watch?v=BUE-icVYRFU</a:t>
            </a:r>
          </a:p>
          <a:p>
            <a:r>
              <a:t>https://www.youtube.com/watch?v=BJjsfNO5JTo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Periya team venam. Months venam. Ad budget-um venam.</a:t>
            </a:r>
          </a:p>
          <a:p>
            <a:r>
              <a:t>Credit Sanjeev NC, DevFest 2024 for the tiny-team, no-ad-budget, ship-before-polish point. Super Meme is the spoken example — inspiration only. No revenue, ARR, or size claims. Same for DroidClaw.</a:t>
            </a:r>
          </a:p>
          <a:p>
            <a:r>
              <a:t>https://supermeme.ai/</a:t>
            </a:r>
          </a:p>
          <a:p>
            <a:r>
              <a:t>https://droidclaw.ai/</a:t>
            </a:r>
          </a:p>
          <a:p>
            <a:r>
              <a:t>Do not invent a YouTube id for Sanjeev's talk.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Instagram venam. Oru problem. Konjam per. Adhu pothum.</a:t>
            </a:r>
          </a:p>
          <a:p>
            <a:r>
              <a:t>These are small products. Also: word game, quiz, browser game, PDF utilities, expense widget, social scheduling, inventory, booking reminders, productivity dashboards, Android performance report, API testing, log analysis.</a:t>
            </a:r>
          </a:p>
          <a:p>
            <a:r>
              <a:t>Illustrative monetization: paid levels, one-time, credits, subscription, hosted plan, license.</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Puthiya invention venam. Oru job. Oru price. Adhu pothum.</a:t>
            </a:r>
          </a:p>
          <a:p>
            <a:r>
              <a:t>Maaa is a Mac notch reminder. Pro is $2.99 once for two computers. https://www.maaa.app/</a:t>
            </a:r>
          </a:p>
          <a:p>
            <a:r>
              <a:t>Lucky Charm hangs a charm on the desktop. Phone shot: Nimbu-Mirchi, Floating Charm Overlay on. https://luckycharm.kraftostech.com/</a:t>
            </a:r>
          </a:p>
          <a:p>
            <a:r>
              <a:t>Carrd is one-page sites. https://carrd.co/</a:t>
            </a:r>
          </a:p>
          <a:p>
            <a:r>
              <a:t>No revenue or popularity counts.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Copycat-nu ninaikadheenga. Better version pothum. Market already irukku.</a:t>
            </a:r>
          </a:p>
          <a:p>
            <a:r>
              <a:t>DunSocial is one more scheduler in a market that already has them. Public list price is $20/month — not a success claim. https://www.dunsocial.com/</a:t>
            </a:r>
          </a:p>
          <a:p>
            <a:r>
              <a:t>The owner talked to the founder, who did not want an interview. What he did say: people trust you when you solve a problem, and he studies competitors.</a:t>
            </a:r>
          </a:p>
          <a:p>
            <a:r>
              <a:t>The easiest test of a market is to ship a better version of something that already exists. Do not put a like count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Oru job. Ivanga already therinjavanga. Inspiration dhaan.</a:t>
            </a:r>
          </a:p>
          <a:p>
            <a:r>
              <a:t>Raycast is a launcher. https://www.raycast.com/</a:t>
            </a:r>
          </a:p>
          <a:p>
            <a:r>
              <a:t>Photopea is a browser photo editor. https://www.photopea.com/</a:t>
            </a:r>
          </a:p>
          <a:p>
            <a:r>
              <a:t>Gumroad is a store for files and memberships. https://gumroad.com/</a:t>
            </a:r>
          </a:p>
          <a:p>
            <a:r>
              <a:t>Screenshots are from the live sites. Inspiration only — no revenue, user-count, or success claims.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Shark Tank venam. Namma kitta Startup Singam irukku.</a:t>
            </a:r>
          </a:p>
          <a:p>
            <a:r>
              <a:t>Spelling is Startup Singam. No Shark Tank logo. Do not use Sworkit.</a:t>
            </a:r>
          </a:p>
          <a:p>
            <a:r>
              <a:t>Creedom: AI for creators. ₹1.9 crore deployed. https://www.linkedin.com/posts/startupsingam_a-commitment-on-stage-is-only-the-beginning-activity-7491060796655812608-QJl5</a:t>
            </a:r>
          </a:p>
          <a:p>
            <a:r>
              <a:t>GrooveBook: photo app, acquired for $14.5M. https://shutterflyinc.com/shutterfly-inc-acquires-groovebook/</a:t>
            </a:r>
          </a:p>
          <a:p>
            <a:r>
              <a:t>https://techcrunch.com/2014/11/17/shark-tank-backed-groovebook-acquired-by-shutterfly-for-14-5-million/</a:t>
            </a:r>
          </a:p>
          <a:p>
            <a:r>
              <a:t>Scholly: scholarship app. Shark Tank deal, later acquired. Do not invent the check size. https://www.businesswire.com/news/home/20230726114303/en/Sallie-Mae-Acquires-Key-Assets-of-Top-Scholarship-Search-App-Scholly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First product. Game, charm, oru chinna app. Oruthan finish panna mudiyumnu irukanum.</a:t>
            </a:r>
          </a:p>
          <a:p>
            <a:r>
              <a:t>The first part of the recipe is something one person can finish. Examples stay the ones already named.</a:t>
            </a:r>
          </a:p>
          <a:p>
            <a:r>
              <a:t>https://www.maaa.app/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Oruthan pick pannunga. Anju-um venam. Next slide-la oru price, andha checkout.</a:t>
            </a:r>
          </a:p>
          <a:p>
            <a:r>
              <a:t>Pick one of these. You do not need all five. Another allowed checkout is fine. The next slide is one price and that checkout.</a:t>
            </a:r>
          </a:p>
          <a:p>
            <a:r>
              <a:t>Razorpay: https://razorpay.com/docs/</a:t>
            </a:r>
          </a:p>
          <a:p>
            <a:r>
              <a:t>Stripe where available: https://docs.stripe.com/</a:t>
            </a:r>
          </a:p>
          <a:p>
            <a:r>
              <a:t>RevenueCat is mobile subscriptions and stays optional. https://www.revenuecat.com/</a:t>
            </a:r>
          </a:p>
          <a:p>
            <a:r>
              <a:t>Google Pay: wallet checkout, including UPI in India. https://developers.google.com/pay</a:t>
            </a:r>
          </a:p>
          <a:p>
            <a:r>
              <a:t>Apple Pay: wallet checkout where Apple Pay is available. https://developer.apple.com/apple-pay/</a:t>
            </a:r>
          </a:p>
          <a:p>
            <a:r>
              <a:t>Notes only: a store app bills through Google Play Billing and the App Store. RevenueCat can sit on those.</a:t>
            </a:r>
          </a:p>
          <a:p>
            <a:r>
              <a:t>https://developer.android.com/google/play/billing</a:t>
            </a:r>
          </a:p>
          <a:p>
            <a:r>
              <a:t>https://developer.apple.com/in-app-purchase/</a:t>
            </a:r>
          </a:p>
          <a:p>
            <a:r>
              <a:t>Luma collaborator: 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Oru price. Oru checkout. Adhu dhaan payment.</a:t>
            </a:r>
          </a:p>
          <a:p>
            <a:r>
              <a:t>Prices are examples. Razorpay: https://razorpay.com/docs/</a:t>
            </a:r>
          </a:p>
          <a:p>
            <a:r>
              <a:t>Stripe where available. Crowdfunding is not guaranteed funding.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Analytics-ku oru tool pothum. Ella logo-um venam. Firebase-la Analytics, Crashlytics, Performance — most of these free.</a:t>
            </a:r>
          </a:p>
          <a:p>
            <a:r>
              <a:t>PostHog: https://posthog.com/</a:t>
            </a:r>
          </a:p>
          <a:p>
            <a:r>
              <a:t>Google Analytics: https://developers.google.com/analytics</a:t>
            </a:r>
          </a:p>
          <a:p>
            <a:r>
              <a:t>Plausible: https://plausible.io/</a:t>
            </a:r>
          </a:p>
          <a:p>
            <a:r>
              <a:t>Firebase Analytics: https://firebase.google.com/docs/analytics</a:t>
            </a:r>
          </a:p>
          <a:p>
            <a:r>
              <a:t>Crashlytics: https://firebase.google.com/docs/crashlytics</a:t>
            </a:r>
          </a:p>
          <a:p>
            <a:r>
              <a:t>Performance Monitoring: https://firebase.google.com/docs/perf-mon</a:t>
            </a:r>
          </a:p>
          <a:p>
            <a:r>
              <a:t>Pick one. Track visitors, activation, retention, paid conversion, churn.</a:t>
            </a:r>
          </a:p>
          <a:p>
            <a:r>
              <a:t>Most of these Firebase products are free. Official pricing lists Analytics, Crashlytics, Performance Monitoring, A/B Testing, Cloud Messaging, and Remote Config as no-cost, including production apps. Do not say all of Firebase is free. Firestore, Hosting, Storage, and Functions have quotas, then a bill. Firebase Analytics is Google Analytics for Firebase apps — both names stay.</a:t>
            </a:r>
          </a:p>
          <a:p>
            <a:r>
              <a:t>https://firebase.google.com/pricing/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Growth team-oda velai-nu theriyum. AI era-la neenga pick up panna mudiyum. First product-ah valarunga. Use pannanavanga irukanum. Appuram ads. Product sell panna ads. Product-ukkulley ads potta, puthiya user-ku bloatware-ah theriyum.</a:t>
            </a:r>
          </a:p>
          <a:p>
            <a:r>
              <a:t>These used to look like a growth team's job. In the AI era you can pick them up.</a:t>
            </a:r>
          </a:p>
          <a:p>
            <a:r>
              <a:t>Grow the product first. Then revenue, like ads. Run ads to sell the product. Don't put ads inside it.</a:t>
            </a:r>
          </a:p>
          <a:p>
            <a:r>
              <a:t>When the topic is making money from the product, people have to be using it before ads. Do not skip the earlier payment slides. Customer checkout and ad revenue are different.</a:t>
            </a:r>
          </a:p>
          <a:p>
            <a:r>
              <a:t>Google Ads, Meta ads, and Apple Search Ads are for reaching buyers. Ads inside the product feel like bloatware to someone who just arrived. Ads cost money.</a:t>
            </a:r>
          </a:p>
          <a:p>
            <a:r>
              <a:t>https://ads.google.com/</a:t>
            </a:r>
          </a:p>
          <a:p>
            <a:r>
              <a:t>https://www.facebook.com/business/ads</a:t>
            </a:r>
          </a:p>
          <a:p>
            <a:r>
              <a:t>https://ads.apple.com/</a:t>
            </a:r>
          </a:p>
          <a:p>
            <a:r>
              <a:t>Experiments: PostHog experiments, GrowthBook, Firebase A/B Testing. A handful of users cannot prove a winner. AI can help write the test and read the result. It does not invent significance.</a:t>
            </a:r>
          </a:p>
          <a:p>
            <a:r>
              <a:t>https://posthog.com/docs/experiments</a:t>
            </a:r>
          </a:p>
          <a:p>
            <a:r>
              <a:t>https://www.growthbook.io/</a:t>
            </a:r>
          </a:p>
          <a:p>
            <a:r>
              <a:t>https://firebase.google.com/docs/ab-testing</a:t>
            </a:r>
          </a:p>
          <a:p>
            <a:r>
              <a:t>The stream: events you already track. A feature flag ships a variant. Keep the winner.</a:t>
            </a:r>
          </a:p>
          <a:p>
            <a:r>
              <a:t>Do not name Google Optimize. Do not name Kafka.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Support-ku Discord pothum. Periya team venam.</a:t>
            </a:r>
          </a:p>
          <a:p>
            <a:r>
              <a:t>Discord, email, or GitHub Discussions. Nobody needs a support org.</a:t>
            </a:r>
          </a:p>
          <a:p>
            <a:r>
              <a:t>https://discord.com/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Like count customer illa. Problem solve panna, people trust pannuvaanga.</a:t>
            </a:r>
          </a:p>
          <a:p>
            <a:r>
              <a:t>The owner's DunSocial observation, spoken lightly: posts he saw had about 5 or 10 likes. The projected line is the lesson, not the number.</a:t>
            </a:r>
          </a:p>
          <a:p>
            <a:r>
              <a:t>https://www.dunsocial.com/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Innoru feature kedayadhu. First paying customer dhaan matter. Simple-nu ninaichu GitHub-la vechutaanga.</a:t>
            </a:r>
          </a:p>
          <a:p>
            <a:r>
              <a:t>Talk to customers. Show pricing early. Preorders. Paid pilot. Clear refund and delivery policy.</a:t>
            </a:r>
          </a:p>
          <a:p>
            <a:r>
              <a:t>Validate demand. Smallest version someone will pay for. Turn the product into a business. Organic growth. An exit is possible later on https://acquire.com/</a:t>
            </a:r>
          </a:p>
          <a:p>
            <a:r>
              <a:t>Prices are examples. Razorpay: https://razorpay.com/docs/</a:t>
            </a:r>
          </a:p>
          <a:p>
            <a:r>
              <a:t>Stripe where available. Crowdfunding is not guaranteed funding.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Anju per ₹199 kudutha, almost thousand. Gross idhu — tax, fees illa. PMF illa, willingness to pay.</a:t>
            </a:r>
          </a:p>
          <a:p>
            <a:r>
              <a:t>7-step path: painful problem → smallest useful solution → landing + pricing → payment method → share → measure → improve from behavior.</a:t>
            </a:r>
          </a:p>
          <a:p>
            <a:r>
              <a:t>Loop: Launch → Analytics → Feedback → Improvements → Retention → Revenue.</a:t>
            </a:r>
          </a:p>
          <a:p>
            <a:r>
              <a:t>Payment is evidence someone will pay. It is not product-market fit.</a:t>
            </a:r>
          </a:p>
          <a:p>
            <a:r>
              <a:t>https://razorpay.com/docs/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Team venum-na team. Solo-va irundha, solo. Build anything. Ship something.</a:t>
            </a:r>
          </a:p>
          <a:p>
            <a:r>
              <a:t>Individuals and teams. New ideas and existing products. Any stack. Any policy-compliant payment provider.</a:t>
            </a:r>
          </a:p>
          <a:p>
            <a:r>
              <a:t>RevenueCat is a Luma collaborator, not a requirement. A workable way to charge counts. Big revenue during the event is not required.</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Startup School free. Online. YC. Early lessons-ah use pannunga. Lesson number invent pannaathinga.</a:t>
            </a:r>
          </a:p>
          <a:p>
            <a:r>
              <a:t>The QR lives only here. Take Y Combinator Startup School. Free. Online. Say early lessons. Do not invent a lesson number.</a:t>
            </a:r>
          </a:p>
          <a:p>
            <a:r>
              <a:t>https://www.startupschool.org/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Sheet-la fill pannunga. Review Ready-ku maathunga. Organizers dhaan paathu review pannuvaanga.</a:t>
            </a:r>
          </a:p>
          <a:p>
            <a:r>
              <a:t>Sheet: https://docs.google.com/spreadsheets/d/1DZ7OSphlY8llxWisVc_FcLGeu9Psj_fvfxR2F7ohxcM/edit?usp=sharing</a:t>
            </a:r>
          </a:p>
          <a:p>
            <a:r>
              <a:t>Columns: Product Name, Creator / Team, Product Category, Demo / Product URL, Repository URL, Monetization Model, Payment Integration, Deployment Status, Review Status, Production Ready by Thursday, Notes.</a:t>
            </a:r>
          </a:p>
          <a:p>
            <a:r>
              <a:t>Workflow: fill the sheet, update URLs, the participant sets Review Status to Review Ready, organizers review. Review Ready is not approval.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Thursday-kku live aaganum. Review Ready-na ‘paathu videoonga.’ Production Ready-na users use panna ready.</a:t>
            </a:r>
          </a:p>
          <a:p>
            <a:r>
              <a:t>Say Thursday. Do not print a calendar date.</a:t>
            </a:r>
          </a:p>
          <a:p>
            <a:r>
              <a:t>Production Ready by Thursday = deployed and usable. Review Ready = please review.</a:t>
            </a:r>
          </a:p>
          <a:p>
            <a:r>
              <a:t>Checklist: production URL; core flow works; usable onboarding; no critical blockers; a clear way to charge; payment flow works when they charge; basic analytics or feedback; enough for organizers to test.</a:t>
            </a:r>
          </a:p>
          <a:p>
            <a:r>
              <a:t>Extra DevFest prize eligibility, not an automatic win.</a:t>
            </a:r>
          </a:p>
          <a:p>
            <a:r>
              <a:t>https://luma.com/mprx0ocg</a:t>
            </a:r>
          </a:p>
          <a:p>
            <a:r>
              <a:t>https://devfest.gdgchennai.in/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Ship pannunga. Review aaganum. Ticket-na bonus — guarantee illa.</a:t>
            </a:r>
          </a:p>
          <a:p>
            <a:r>
              <a:t>On the slide, attributed to Sam Altman: We're going to see 10 person billion-dollar companies pretty soon.</a:t>
            </a:r>
          </a:p>
          <a:p>
            <a:r>
              <a:t>Fuller reported line: We're going to see 10-person companies with billion-dollar valuations pretty soon.</a:t>
            </a:r>
          </a:p>
          <a:p>
            <a:r>
              <a:t>https://www.forbes.com/sites/michaelashley/2025/02/17/the-future-is-solo-ai-is-creating-billion-dollar-one-person-companies/</a:t>
            </a:r>
          </a:p>
          <a:p>
            <a:r>
              <a:t>Organizers review. Selected winners get DevFest Chennai tickets. Prizes also at DevFest, Sat 17 Oct 2026, IITM Research Park. Thursday production-ready teams are considered for an additional prize — not a guarantee.</a:t>
            </a:r>
          </a:p>
          <a:p>
            <a:r>
              <a:t>Judging themes only: usefulness, execution, UX, monetization potential, real deployment, learning. Do not invent amounts, winner counts, or weights.</a:t>
            </a:r>
          </a:p>
          <a:p>
            <a:r>
              <a:t>https://devfest.gdgchennai.in/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Ippo ivathai follow pannunga. Overwhelm aagadheenga.</a:t>
            </a:r>
          </a:p>
          <a:p>
            <a:r>
              <a:t>Three names only. X is build in public. https://x.com/</a:t>
            </a:r>
          </a:p>
          <a:p>
            <a:r>
              <a:t>Product Hunt is where new products show up. https://www.producthunt.com/</a:t>
            </a:r>
          </a:p>
          <a:p>
            <a:r>
              <a:t>Startup School is the free YC course shown earlier. https://www.startupschool.org/</a:t>
            </a:r>
          </a:p>
          <a:p>
            <a:r>
              <a:t>No second QR here. No extra networks.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Indha banner-ah vechi vidunga. Scan panna mudiyala-na DevFest site-ku point pannunga.</a:t>
            </a:r>
          </a:p>
          <a:p>
            <a:r>
              <a:t>KUG community-partner art. Full image, no crop, no overlay, no second QR drawn on top.</a:t>
            </a:r>
          </a:p>
          <a:p>
            <a:r>
              <a:t>The on-art QR did not decode in our check. Use https://devfest.gdgchennai.in/ — do not invent another.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Indha card-ah vechi vidunga. Title overlay pannaathinga.</a:t>
            </a:r>
          </a:p>
          <a:p>
            <a:r>
              <a:t>Whole image. No crop. No title on the slide. The date stays inside the art. 20% off, code KUGCHENNAI, 20 Nov 2026, Bengaluru — that is on the card, not a second headline.</a:t>
            </a:r>
          </a:p>
          <a:p>
            <a:r>
              <a:t>https://india.droidcon.com/</a:t>
            </a:r>
          </a:p>
          <a:p>
            <a:r>
              <a:t>https://ibb.co/3mpLSXFq</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Volunteer aaganum-na scan pannunga. Form fill pannunga.</a:t>
            </a:r>
          </a:p>
          <a:p>
            <a:r>
              <a:t>This is the last slide before Jobs. Large QR. It decodes to https://forms.gle/bpL3rYXffdDWCMK89</a:t>
            </a:r>
          </a:p>
          <a:p>
            <a:r>
              <a:t>Leave the form title up. Do not invent extra volunteer perks.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Crazy-nu ninaichavanga dhaan world-ah maathuvaanga. Indha prize pool innaiku. Next billion-ah next hackathon prize-nu nenaikunga.</a:t>
            </a:r>
          </a:p>
          <a:p>
            <a:r>
              <a:t>Leave the poster up. It already prints today's prize pool. ₹12,000 is today's prize pool, as printed. Do not retype that number as a second headline. Do not split it, name winners, or promise the billion.</a:t>
            </a:r>
          </a:p>
          <a:p>
            <a:r>
              <a:t>Keep the Steve Jobs line: The people who are crazy enough to think they can change the world are the ones who do.</a:t>
            </a:r>
          </a:p>
          <a:p>
            <a:r>
              <a:t>The billion line is the push to keep shipping: Today's prize pool is this. Nothing else is stopping you from a $1 billion company very soon. Think of the next $1 billion as your next hackathon-winning prize.</a:t>
            </a:r>
          </a:p>
          <a:p>
            <a:r>
              <a:t>Don't just build another side project. Build something people can use, ship it to the world, and see if someone is willing to pay for it.</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Tanglish: Venue-ku thank you. Solaris Technologies. Tidel Park.</a:t>
            </a:r>
          </a:p>
          <a:p>
            <a:r>
              <a:t>Thank Solaris Technologies and Tidel Park for sponsoring the venue only. Do not invent logos, amounts, or extra sponsors.</a:t>
            </a:r>
          </a:p>
          <a:p>
            <a:r>
              <a:t>https://luma.com/mprx0ocg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ipaton-open-poster.png"/>
          <p:cNvPicPr>
            <a:picLocks noChangeAspect="1"/>
          </p:cNvPicPr>
          <p:nvPr/>
        </p:nvPicPr>
        <p:blipFill>
          <a:blip r:embed="rId2"/>
          <a:stretch>
            <a:fillRect/>
          </a:stretch>
        </p:blipFill>
        <p:spPr>
          <a:xfrm>
            <a:off x="2666847" y="0"/>
            <a:ext cx="6858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ipaton-title-card.png"/>
          <p:cNvPicPr>
            <a:picLocks noChangeAspect="1"/>
          </p:cNvPicPr>
          <p:nvPr/>
        </p:nvPicPr>
        <p:blipFill>
          <a:blip r:embed="rId2"/>
          <a:stretch>
            <a:fillRect/>
          </a:stretch>
        </p:blipFill>
        <p:spPr>
          <a:xfrm>
            <a:off x="0" y="85"/>
            <a:ext cx="12191695" cy="68578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17320"/>
            <a:ext cx="10881360" cy="1737360"/>
          </a:xfrm>
          <a:prstGeom prst="rect">
            <a:avLst/>
          </a:prstGeom>
          <a:noFill/>
        </p:spPr>
        <p:txBody>
          <a:bodyPr wrap="square">
            <a:spAutoFit/>
          </a:bodyPr>
          <a:lstStyle/>
          <a:p>
            <a:pPr algn="ctr"/>
            <a:r>
              <a:rPr sz="3600" b="1">
                <a:solidFill>
                  <a:srgbClr val="1D1D1F"/>
                </a:solidFill>
                <a:latin typeface="Calibri"/>
              </a:rPr>
              <a:t>What's stopping us from getting paid?</a:t>
            </a:r>
          </a:p>
        </p:txBody>
      </p:sp>
      <p:sp>
        <p:nvSpPr>
          <p:cNvPr id="4" name="TextBox 3"/>
          <p:cNvSpPr txBox="1"/>
          <p:nvPr/>
        </p:nvSpPr>
        <p:spPr>
          <a:xfrm>
            <a:off x="640080" y="3200400"/>
            <a:ext cx="10881360" cy="777240"/>
          </a:xfrm>
          <a:prstGeom prst="rect">
            <a:avLst/>
          </a:prstGeom>
          <a:noFill/>
        </p:spPr>
        <p:txBody>
          <a:bodyPr wrap="square">
            <a:spAutoFit/>
          </a:bodyPr>
          <a:lstStyle/>
          <a:p>
            <a:pPr algn="ctr"/>
            <a:r>
              <a:rPr sz="2200" b="0">
                <a:solidFill>
                  <a:srgbClr val="6E6E73"/>
                </a:solidFill>
                <a:latin typeface="Calibri"/>
              </a:rPr>
              <a:t>We know how to build.</a:t>
            </a:r>
          </a:p>
        </p:txBody>
      </p:sp>
      <p:sp>
        <p:nvSpPr>
          <p:cNvPr id="5" name="Rounded Rectangle 4"/>
          <p:cNvSpPr/>
          <p:nvPr/>
        </p:nvSpPr>
        <p:spPr>
          <a:xfrm>
            <a:off x="4548225" y="5349240"/>
            <a:ext cx="309524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48225" y="5385816"/>
            <a:ext cx="3095244" cy="329184"/>
          </a:xfrm>
          <a:prstGeom prst="rect">
            <a:avLst/>
          </a:prstGeom>
          <a:noFill/>
        </p:spPr>
        <p:txBody>
          <a:bodyPr wrap="square">
            <a:spAutoFit/>
          </a:bodyPr>
          <a:lstStyle/>
          <a:p>
            <a:pPr algn="ctr"/>
            <a:r>
              <a:rPr sz="1200" b="1">
                <a:solidFill>
                  <a:srgbClr val="1D1D1F"/>
                </a:solidFill>
                <a:latin typeface="Calibri"/>
              </a:rPr>
              <a:t>Getting paid takes resilience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881360" cy="1737360"/>
          </a:xfrm>
          <a:prstGeom prst="rect">
            <a:avLst/>
          </a:prstGeom>
          <a:noFill/>
        </p:spPr>
        <p:txBody>
          <a:bodyPr wrap="square">
            <a:spAutoFit/>
          </a:bodyPr>
          <a:lstStyle/>
          <a:p>
            <a:pPr algn="ctr"/>
            <a:r>
              <a:rPr sz="3200" b="1">
                <a:solidFill>
                  <a:srgbClr val="1D1D1F"/>
                </a:solidFill>
                <a:latin typeface="Calibri"/>
              </a:rPr>
              <a:t>You don't need a big team.</a:t>
            </a:r>
          </a:p>
        </p:txBody>
      </p:sp>
      <p:sp>
        <p:nvSpPr>
          <p:cNvPr id="4" name="TextBox 3"/>
          <p:cNvSpPr txBox="1"/>
          <p:nvPr/>
        </p:nvSpPr>
        <p:spPr>
          <a:xfrm>
            <a:off x="640080" y="2286000"/>
            <a:ext cx="10881360" cy="777240"/>
          </a:xfrm>
          <a:prstGeom prst="rect">
            <a:avLst/>
          </a:prstGeom>
          <a:noFill/>
        </p:spPr>
        <p:txBody>
          <a:bodyPr wrap="square">
            <a:spAutoFit/>
          </a:bodyPr>
          <a:lstStyle/>
          <a:p>
            <a:pPr algn="ctr"/>
            <a:r>
              <a:rPr sz="2200" b="0">
                <a:solidFill>
                  <a:srgbClr val="6E6E73"/>
                </a:solidFill>
                <a:latin typeface="Calibri"/>
              </a:rPr>
              <a:t>Or months. Or an ad budget.</a:t>
            </a:r>
          </a:p>
        </p:txBody>
      </p:sp>
      <p:pic>
        <p:nvPicPr>
          <p:cNvPr id="5" name="Picture 4" descr="shot-supermeme.jpg"/>
          <p:cNvPicPr>
            <a:picLocks noChangeAspect="1"/>
          </p:cNvPicPr>
          <p:nvPr/>
        </p:nvPicPr>
        <p:blipFill>
          <a:blip r:embed="rId2"/>
          <a:stretch>
            <a:fillRect/>
          </a:stretch>
        </p:blipFill>
        <p:spPr>
          <a:xfrm>
            <a:off x="1990191" y="3246120"/>
            <a:ext cx="4023360" cy="1874519"/>
          </a:xfrm>
          <a:prstGeom prst="rect">
            <a:avLst/>
          </a:prstGeom>
        </p:spPr>
      </p:pic>
      <p:pic>
        <p:nvPicPr>
          <p:cNvPr id="6" name="Picture 5" descr="shot-droidclaw.jpg"/>
          <p:cNvPicPr>
            <a:picLocks noChangeAspect="1"/>
          </p:cNvPicPr>
          <p:nvPr/>
        </p:nvPicPr>
        <p:blipFill>
          <a:blip r:embed="rId3"/>
          <a:stretch>
            <a:fillRect/>
          </a:stretch>
        </p:blipFill>
        <p:spPr>
          <a:xfrm>
            <a:off x="6178143" y="3246120"/>
            <a:ext cx="4023360" cy="1874519"/>
          </a:xfrm>
          <a:prstGeom prst="rect">
            <a:avLst/>
          </a:prstGeom>
        </p:spPr>
      </p:pic>
      <p:sp>
        <p:nvSpPr>
          <p:cNvPr id="7" name="Rounded Rectangle 6"/>
          <p:cNvSpPr/>
          <p:nvPr/>
        </p:nvSpPr>
        <p:spPr>
          <a:xfrm>
            <a:off x="4790541" y="5806440"/>
            <a:ext cx="127101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90541" y="5843016"/>
            <a:ext cx="1271016" cy="329184"/>
          </a:xfrm>
          <a:prstGeom prst="rect">
            <a:avLst/>
          </a:prstGeom>
          <a:noFill/>
        </p:spPr>
        <p:txBody>
          <a:bodyPr wrap="square">
            <a:spAutoFit/>
          </a:bodyPr>
          <a:lstStyle/>
          <a:p>
            <a:pPr algn="ctr"/>
            <a:r>
              <a:rPr sz="1200" b="1">
                <a:solidFill>
                  <a:srgbClr val="1D1D1F"/>
                </a:solidFill>
                <a:latin typeface="Calibri"/>
              </a:rPr>
              <a:t>Super Meme</a:t>
            </a:r>
          </a:p>
        </p:txBody>
      </p:sp>
      <p:sp>
        <p:nvSpPr>
          <p:cNvPr id="9" name="Rounded Rectangle 8"/>
          <p:cNvSpPr/>
          <p:nvPr/>
        </p:nvSpPr>
        <p:spPr>
          <a:xfrm>
            <a:off x="6226149" y="5806440"/>
            <a:ext cx="117500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6149" y="5843016"/>
            <a:ext cx="1175004" cy="329184"/>
          </a:xfrm>
          <a:prstGeom prst="rect">
            <a:avLst/>
          </a:prstGeom>
          <a:noFill/>
        </p:spPr>
        <p:txBody>
          <a:bodyPr wrap="square">
            <a:spAutoFit/>
          </a:bodyPr>
          <a:lstStyle/>
          <a:p>
            <a:pPr algn="ctr"/>
            <a:r>
              <a:rPr sz="1200" b="1">
                <a:solidFill>
                  <a:srgbClr val="1D1D1F"/>
                </a:solidFill>
                <a:latin typeface="Calibri"/>
              </a:rPr>
              <a:t>DroidClaw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554480"/>
            <a:ext cx="10881360" cy="1737360"/>
          </a:xfrm>
          <a:prstGeom prst="rect">
            <a:avLst/>
          </a:prstGeom>
          <a:noFill/>
        </p:spPr>
        <p:txBody>
          <a:bodyPr wrap="square">
            <a:spAutoFit/>
          </a:bodyPr>
          <a:lstStyle/>
          <a:p>
            <a:pPr algn="ctr"/>
            <a:r>
              <a:rPr sz="3400" b="1">
                <a:solidFill>
                  <a:srgbClr val="1D1D1F"/>
                </a:solidFill>
                <a:latin typeface="Calibri"/>
              </a:rPr>
              <a:t>You don't need the next Instagram.</a:t>
            </a:r>
          </a:p>
        </p:txBody>
      </p:sp>
      <p:sp>
        <p:nvSpPr>
          <p:cNvPr id="4" name="TextBox 3"/>
          <p:cNvSpPr txBox="1"/>
          <p:nvPr/>
        </p:nvSpPr>
        <p:spPr>
          <a:xfrm>
            <a:off x="640080" y="3337560"/>
            <a:ext cx="10881360" cy="777240"/>
          </a:xfrm>
          <a:prstGeom prst="rect">
            <a:avLst/>
          </a:prstGeom>
          <a:noFill/>
        </p:spPr>
        <p:txBody>
          <a:bodyPr wrap="square">
            <a:spAutoFit/>
          </a:bodyPr>
          <a:lstStyle/>
          <a:p>
            <a:pPr algn="ctr"/>
            <a:r>
              <a:rPr sz="2200" b="0">
                <a:solidFill>
                  <a:srgbClr val="6E6E73"/>
                </a:solidFill>
                <a:latin typeface="Calibri"/>
              </a:rPr>
              <a:t>One problem. A few people.</a:t>
            </a:r>
          </a:p>
        </p:txBody>
      </p:sp>
      <p:sp>
        <p:nvSpPr>
          <p:cNvPr id="5" name="Rounded Rectangle 4"/>
          <p:cNvSpPr/>
          <p:nvPr/>
        </p:nvSpPr>
        <p:spPr>
          <a:xfrm>
            <a:off x="2538831" y="5074920"/>
            <a:ext cx="136702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38831" y="5111496"/>
            <a:ext cx="1367028" cy="329184"/>
          </a:xfrm>
          <a:prstGeom prst="rect">
            <a:avLst/>
          </a:prstGeom>
          <a:noFill/>
        </p:spPr>
        <p:txBody>
          <a:bodyPr wrap="square">
            <a:spAutoFit/>
          </a:bodyPr>
          <a:lstStyle/>
          <a:p>
            <a:pPr algn="ctr"/>
            <a:r>
              <a:rPr sz="1200" b="1">
                <a:solidFill>
                  <a:srgbClr val="1D1D1F"/>
                </a:solidFill>
                <a:latin typeface="Calibri"/>
              </a:rPr>
              <a:t>Puzzle game</a:t>
            </a:r>
          </a:p>
        </p:txBody>
      </p:sp>
      <p:sp>
        <p:nvSpPr>
          <p:cNvPr id="7" name="Rounded Rectangle 6"/>
          <p:cNvSpPr/>
          <p:nvPr/>
        </p:nvSpPr>
        <p:spPr>
          <a:xfrm>
            <a:off x="4070451" y="5074920"/>
            <a:ext cx="184708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70451" y="5111496"/>
            <a:ext cx="1847088" cy="329184"/>
          </a:xfrm>
          <a:prstGeom prst="rect">
            <a:avLst/>
          </a:prstGeom>
          <a:noFill/>
        </p:spPr>
        <p:txBody>
          <a:bodyPr wrap="square">
            <a:spAutoFit/>
          </a:bodyPr>
          <a:lstStyle/>
          <a:p>
            <a:pPr algn="ctr"/>
            <a:r>
              <a:rPr sz="1200" b="1">
                <a:solidFill>
                  <a:srgbClr val="1D1D1F"/>
                </a:solidFill>
                <a:latin typeface="Calibri"/>
              </a:rPr>
              <a:t>Resume formatter</a:t>
            </a:r>
          </a:p>
        </p:txBody>
      </p:sp>
      <p:sp>
        <p:nvSpPr>
          <p:cNvPr id="9" name="Rounded Rectangle 8"/>
          <p:cNvSpPr/>
          <p:nvPr/>
        </p:nvSpPr>
        <p:spPr>
          <a:xfrm>
            <a:off x="6082131" y="5074920"/>
            <a:ext cx="194310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2131" y="5111496"/>
            <a:ext cx="1943100" cy="329184"/>
          </a:xfrm>
          <a:prstGeom prst="rect">
            <a:avLst/>
          </a:prstGeom>
          <a:noFill/>
        </p:spPr>
        <p:txBody>
          <a:bodyPr wrap="square">
            <a:spAutoFit/>
          </a:bodyPr>
          <a:lstStyle/>
          <a:p>
            <a:pPr algn="ctr"/>
            <a:r>
              <a:rPr sz="1200" b="1">
                <a:solidFill>
                  <a:srgbClr val="1D1D1F"/>
                </a:solidFill>
                <a:latin typeface="Calibri"/>
              </a:rPr>
              <a:t>Invoice reminders</a:t>
            </a:r>
          </a:p>
        </p:txBody>
      </p:sp>
      <p:sp>
        <p:nvSpPr>
          <p:cNvPr id="11" name="Rounded Rectangle 10"/>
          <p:cNvSpPr/>
          <p:nvPr/>
        </p:nvSpPr>
        <p:spPr>
          <a:xfrm>
            <a:off x="8189823" y="5074920"/>
            <a:ext cx="146304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9823" y="5111496"/>
            <a:ext cx="1463040" cy="329184"/>
          </a:xfrm>
          <a:prstGeom prst="rect">
            <a:avLst/>
          </a:prstGeom>
          <a:noFill/>
        </p:spPr>
        <p:txBody>
          <a:bodyPr wrap="square">
            <a:spAutoFit/>
          </a:bodyPr>
          <a:lstStyle/>
          <a:p>
            <a:pPr algn="ctr"/>
            <a:r>
              <a:rPr sz="1200" b="1">
                <a:solidFill>
                  <a:srgbClr val="1D1D1F"/>
                </a:solidFill>
                <a:latin typeface="Calibri"/>
              </a:rPr>
              <a:t>CI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737360"/>
          </a:xfrm>
          <a:prstGeom prst="rect">
            <a:avLst/>
          </a:prstGeom>
          <a:noFill/>
        </p:spPr>
        <p:txBody>
          <a:bodyPr wrap="square">
            <a:spAutoFit/>
          </a:bodyPr>
          <a:lstStyle/>
          <a:p>
            <a:pPr algn="ctr"/>
            <a:r>
              <a:rPr sz="3200" b="1">
                <a:solidFill>
                  <a:srgbClr val="1D1D1F"/>
                </a:solidFill>
                <a:latin typeface="Calibri"/>
              </a:rPr>
              <a:t>These already exist.</a:t>
            </a:r>
          </a:p>
        </p:txBody>
      </p:sp>
      <p:sp>
        <p:nvSpPr>
          <p:cNvPr id="4" name="TextBox 3"/>
          <p:cNvSpPr txBox="1"/>
          <p:nvPr/>
        </p:nvSpPr>
        <p:spPr>
          <a:xfrm>
            <a:off x="640080" y="2194560"/>
            <a:ext cx="10881360" cy="777240"/>
          </a:xfrm>
          <a:prstGeom prst="rect">
            <a:avLst/>
          </a:prstGeom>
          <a:noFill/>
        </p:spPr>
        <p:txBody>
          <a:bodyPr wrap="square">
            <a:spAutoFit/>
          </a:bodyPr>
          <a:lstStyle/>
          <a:p>
            <a:pPr algn="ctr"/>
            <a:r>
              <a:rPr sz="2200" b="0">
                <a:solidFill>
                  <a:srgbClr val="6E6E73"/>
                </a:solidFill>
                <a:latin typeface="Calibri"/>
              </a:rPr>
              <a:t>One job. A real price.</a:t>
            </a:r>
          </a:p>
        </p:txBody>
      </p:sp>
      <p:pic>
        <p:nvPicPr>
          <p:cNvPr id="5" name="Picture 4" descr="shot-maaa.jpg"/>
          <p:cNvPicPr>
            <a:picLocks noChangeAspect="1"/>
          </p:cNvPicPr>
          <p:nvPr/>
        </p:nvPicPr>
        <p:blipFill>
          <a:blip r:embed="rId2"/>
          <a:stretch>
            <a:fillRect/>
          </a:stretch>
        </p:blipFill>
        <p:spPr>
          <a:xfrm>
            <a:off x="2175643" y="3063240"/>
            <a:ext cx="3063240" cy="1719072"/>
          </a:xfrm>
          <a:prstGeom prst="rect">
            <a:avLst/>
          </a:prstGeom>
        </p:spPr>
      </p:pic>
      <p:pic>
        <p:nvPicPr>
          <p:cNvPr id="6" name="Picture 5" descr="shot-luckycharm-phone.jpg"/>
          <p:cNvPicPr>
            <a:picLocks noChangeAspect="1"/>
          </p:cNvPicPr>
          <p:nvPr/>
        </p:nvPicPr>
        <p:blipFill>
          <a:blip r:embed="rId3"/>
          <a:stretch>
            <a:fillRect/>
          </a:stretch>
        </p:blipFill>
        <p:spPr>
          <a:xfrm>
            <a:off x="5440051" y="2953512"/>
            <a:ext cx="1311592" cy="2331720"/>
          </a:xfrm>
          <a:prstGeom prst="rect">
            <a:avLst/>
          </a:prstGeom>
        </p:spPr>
      </p:pic>
      <p:pic>
        <p:nvPicPr>
          <p:cNvPr id="7" name="Picture 6" descr="shot-carrd.jpg"/>
          <p:cNvPicPr>
            <a:picLocks noChangeAspect="1"/>
          </p:cNvPicPr>
          <p:nvPr/>
        </p:nvPicPr>
        <p:blipFill>
          <a:blip r:embed="rId4"/>
          <a:stretch>
            <a:fillRect/>
          </a:stretch>
        </p:blipFill>
        <p:spPr>
          <a:xfrm>
            <a:off x="6952811" y="3063240"/>
            <a:ext cx="3063240" cy="1719072"/>
          </a:xfrm>
          <a:prstGeom prst="rect">
            <a:avLst/>
          </a:prstGeom>
        </p:spPr>
      </p:pic>
      <p:sp>
        <p:nvSpPr>
          <p:cNvPr id="8" name="Rounded Rectangle 7"/>
          <p:cNvSpPr/>
          <p:nvPr/>
        </p:nvSpPr>
        <p:spPr>
          <a:xfrm>
            <a:off x="4504791" y="5806440"/>
            <a:ext cx="69494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4791" y="5843016"/>
            <a:ext cx="694944" cy="329184"/>
          </a:xfrm>
          <a:prstGeom prst="rect">
            <a:avLst/>
          </a:prstGeom>
          <a:noFill/>
        </p:spPr>
        <p:txBody>
          <a:bodyPr wrap="square">
            <a:spAutoFit/>
          </a:bodyPr>
          <a:lstStyle/>
          <a:p>
            <a:pPr algn="ctr"/>
            <a:r>
              <a:rPr sz="1200" b="1">
                <a:solidFill>
                  <a:srgbClr val="1D1D1F"/>
                </a:solidFill>
                <a:latin typeface="Calibri"/>
              </a:rPr>
              <a:t>Maaa</a:t>
            </a:r>
          </a:p>
        </p:txBody>
      </p:sp>
      <p:sp>
        <p:nvSpPr>
          <p:cNvPr id="10" name="Rounded Rectangle 9"/>
          <p:cNvSpPr/>
          <p:nvPr/>
        </p:nvSpPr>
        <p:spPr>
          <a:xfrm>
            <a:off x="5364327" y="5806440"/>
            <a:ext cx="136702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64327" y="5843016"/>
            <a:ext cx="1367028" cy="329184"/>
          </a:xfrm>
          <a:prstGeom prst="rect">
            <a:avLst/>
          </a:prstGeom>
          <a:noFill/>
        </p:spPr>
        <p:txBody>
          <a:bodyPr wrap="square">
            <a:spAutoFit/>
          </a:bodyPr>
          <a:lstStyle/>
          <a:p>
            <a:pPr algn="ctr"/>
            <a:r>
              <a:rPr sz="1200" b="1">
                <a:solidFill>
                  <a:srgbClr val="1D1D1F"/>
                </a:solidFill>
                <a:latin typeface="Calibri"/>
              </a:rPr>
              <a:t>Lucky Charm</a:t>
            </a:r>
          </a:p>
        </p:txBody>
      </p:sp>
      <p:sp>
        <p:nvSpPr>
          <p:cNvPr id="12" name="Rounded Rectangle 11"/>
          <p:cNvSpPr/>
          <p:nvPr/>
        </p:nvSpPr>
        <p:spPr>
          <a:xfrm>
            <a:off x="6895947" y="5806440"/>
            <a:ext cx="79095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95947" y="5843016"/>
            <a:ext cx="790956" cy="329184"/>
          </a:xfrm>
          <a:prstGeom prst="rect">
            <a:avLst/>
          </a:prstGeom>
          <a:noFill/>
        </p:spPr>
        <p:txBody>
          <a:bodyPr wrap="square">
            <a:spAutoFit/>
          </a:bodyPr>
          <a:lstStyle/>
          <a:p>
            <a:pPr algn="ctr"/>
            <a:r>
              <a:rPr sz="1200" b="1">
                <a:solidFill>
                  <a:srgbClr val="1D1D1F"/>
                </a:solidFill>
                <a:latin typeface="Calibri"/>
              </a:rPr>
              <a:t>Carrd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881360" cy="1737360"/>
          </a:xfrm>
          <a:prstGeom prst="rect">
            <a:avLst/>
          </a:prstGeom>
          <a:noFill/>
        </p:spPr>
        <p:txBody>
          <a:bodyPr wrap="square">
            <a:spAutoFit/>
          </a:bodyPr>
          <a:lstStyle/>
          <a:p>
            <a:pPr algn="ctr"/>
            <a:r>
              <a:rPr sz="3200" b="1">
                <a:solidFill>
                  <a:srgbClr val="1D1D1F"/>
                </a:solidFill>
                <a:latin typeface="Calibri"/>
              </a:rPr>
              <a:t>You don't have to invent it.</a:t>
            </a:r>
          </a:p>
        </p:txBody>
      </p:sp>
      <p:sp>
        <p:nvSpPr>
          <p:cNvPr id="4" name="TextBox 3"/>
          <p:cNvSpPr txBox="1"/>
          <p:nvPr/>
        </p:nvSpPr>
        <p:spPr>
          <a:xfrm>
            <a:off x="640080" y="2286000"/>
            <a:ext cx="10881360" cy="777240"/>
          </a:xfrm>
          <a:prstGeom prst="rect">
            <a:avLst/>
          </a:prstGeom>
          <a:noFill/>
        </p:spPr>
        <p:txBody>
          <a:bodyPr wrap="square">
            <a:spAutoFit/>
          </a:bodyPr>
          <a:lstStyle/>
          <a:p>
            <a:pPr algn="ctr"/>
            <a:r>
              <a:rPr sz="2200" b="0">
                <a:solidFill>
                  <a:srgbClr val="6E6E73"/>
                </a:solidFill>
                <a:latin typeface="Calibri"/>
              </a:rPr>
              <a:t>A better version is enough.</a:t>
            </a:r>
          </a:p>
        </p:txBody>
      </p:sp>
      <p:pic>
        <p:nvPicPr>
          <p:cNvPr id="5" name="Picture 4" descr="shot-dunsocial.jpg"/>
          <p:cNvPicPr>
            <a:picLocks noChangeAspect="1"/>
          </p:cNvPicPr>
          <p:nvPr/>
        </p:nvPicPr>
        <p:blipFill>
          <a:blip r:embed="rId2"/>
          <a:stretch>
            <a:fillRect/>
          </a:stretch>
        </p:blipFill>
        <p:spPr>
          <a:xfrm>
            <a:off x="3626967" y="3063240"/>
            <a:ext cx="4937760" cy="2148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737360"/>
          </a:xfrm>
          <a:prstGeom prst="rect">
            <a:avLst/>
          </a:prstGeom>
          <a:noFill/>
        </p:spPr>
        <p:txBody>
          <a:bodyPr wrap="square">
            <a:spAutoFit/>
          </a:bodyPr>
          <a:lstStyle/>
          <a:p>
            <a:pPr algn="ctr"/>
            <a:r>
              <a:rPr sz="3200" b="1">
                <a:solidFill>
                  <a:srgbClr val="1D1D1F"/>
                </a:solidFill>
                <a:latin typeface="Calibri"/>
              </a:rPr>
              <a:t>One job. People know these.</a:t>
            </a:r>
          </a:p>
        </p:txBody>
      </p:sp>
      <p:sp>
        <p:nvSpPr>
          <p:cNvPr id="4" name="TextBox 3"/>
          <p:cNvSpPr txBox="1"/>
          <p:nvPr/>
        </p:nvSpPr>
        <p:spPr>
          <a:xfrm>
            <a:off x="640080" y="2194560"/>
            <a:ext cx="10881360" cy="777240"/>
          </a:xfrm>
          <a:prstGeom prst="rect">
            <a:avLst/>
          </a:prstGeom>
          <a:noFill/>
        </p:spPr>
        <p:txBody>
          <a:bodyPr wrap="square">
            <a:spAutoFit/>
          </a:bodyPr>
          <a:lstStyle/>
          <a:p>
            <a:pPr algn="ctr"/>
            <a:r>
              <a:rPr sz="2200" b="0">
                <a:solidFill>
                  <a:srgbClr val="6E6E73"/>
                </a:solidFill>
                <a:latin typeface="Calibri"/>
              </a:rPr>
              <a:t>A launcher. An editor. A store.</a:t>
            </a:r>
          </a:p>
        </p:txBody>
      </p:sp>
      <p:pic>
        <p:nvPicPr>
          <p:cNvPr id="5" name="Picture 4" descr="shot-raycast.jpg"/>
          <p:cNvPicPr>
            <a:picLocks noChangeAspect="1"/>
          </p:cNvPicPr>
          <p:nvPr/>
        </p:nvPicPr>
        <p:blipFill>
          <a:blip r:embed="rId2"/>
          <a:stretch>
            <a:fillRect/>
          </a:stretch>
        </p:blipFill>
        <p:spPr>
          <a:xfrm>
            <a:off x="1062075" y="3154680"/>
            <a:ext cx="3246120" cy="1783080"/>
          </a:xfrm>
          <a:prstGeom prst="rect">
            <a:avLst/>
          </a:prstGeom>
        </p:spPr>
      </p:pic>
      <p:pic>
        <p:nvPicPr>
          <p:cNvPr id="6" name="Picture 5" descr="shot-photopea.jpg"/>
          <p:cNvPicPr>
            <a:picLocks noChangeAspect="1"/>
          </p:cNvPicPr>
          <p:nvPr/>
        </p:nvPicPr>
        <p:blipFill>
          <a:blip r:embed="rId3"/>
          <a:stretch>
            <a:fillRect/>
          </a:stretch>
        </p:blipFill>
        <p:spPr>
          <a:xfrm>
            <a:off x="4472787" y="3154680"/>
            <a:ext cx="3246120" cy="1783080"/>
          </a:xfrm>
          <a:prstGeom prst="rect">
            <a:avLst/>
          </a:prstGeom>
        </p:spPr>
      </p:pic>
      <p:pic>
        <p:nvPicPr>
          <p:cNvPr id="7" name="Picture 6" descr="shot-gumroad.jpg"/>
          <p:cNvPicPr>
            <a:picLocks noChangeAspect="1"/>
          </p:cNvPicPr>
          <p:nvPr/>
        </p:nvPicPr>
        <p:blipFill>
          <a:blip r:embed="rId4"/>
          <a:stretch>
            <a:fillRect/>
          </a:stretch>
        </p:blipFill>
        <p:spPr>
          <a:xfrm>
            <a:off x="7883499" y="3154680"/>
            <a:ext cx="3246120" cy="17830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881360" cy="1737360"/>
          </a:xfrm>
          <a:prstGeom prst="rect">
            <a:avLst/>
          </a:prstGeom>
          <a:noFill/>
        </p:spPr>
        <p:txBody>
          <a:bodyPr wrap="square">
            <a:spAutoFit/>
          </a:bodyPr>
          <a:lstStyle/>
          <a:p>
            <a:pPr algn="ctr"/>
            <a:r>
              <a:rPr sz="3200" b="1">
                <a:solidFill>
                  <a:srgbClr val="1D1D1F"/>
                </a:solidFill>
                <a:latin typeface="Calibri"/>
              </a:rPr>
              <a:t>You don't need Shark Tank.</a:t>
            </a:r>
          </a:p>
        </p:txBody>
      </p:sp>
      <p:sp>
        <p:nvSpPr>
          <p:cNvPr id="4" name="TextBox 3"/>
          <p:cNvSpPr txBox="1"/>
          <p:nvPr/>
        </p:nvSpPr>
        <p:spPr>
          <a:xfrm>
            <a:off x="640080" y="2286000"/>
            <a:ext cx="10881360" cy="777240"/>
          </a:xfrm>
          <a:prstGeom prst="rect">
            <a:avLst/>
          </a:prstGeom>
          <a:noFill/>
        </p:spPr>
        <p:txBody>
          <a:bodyPr wrap="square">
            <a:spAutoFit/>
          </a:bodyPr>
          <a:lstStyle/>
          <a:p>
            <a:pPr algn="ctr"/>
            <a:r>
              <a:rPr sz="2200" b="0">
                <a:solidFill>
                  <a:srgbClr val="6E6E73"/>
                </a:solidFill>
                <a:latin typeface="Calibri"/>
              </a:rPr>
              <a:t>We have Startup Singam.</a:t>
            </a:r>
          </a:p>
        </p:txBody>
      </p:sp>
      <p:sp>
        <p:nvSpPr>
          <p:cNvPr id="5" name="Rounded Rectangle 4"/>
          <p:cNvSpPr/>
          <p:nvPr/>
        </p:nvSpPr>
        <p:spPr>
          <a:xfrm>
            <a:off x="1025499" y="3246120"/>
            <a:ext cx="32461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2659" y="3566160"/>
            <a:ext cx="2971800" cy="502920"/>
          </a:xfrm>
          <a:prstGeom prst="rect">
            <a:avLst/>
          </a:prstGeom>
          <a:noFill/>
        </p:spPr>
        <p:txBody>
          <a:bodyPr wrap="square">
            <a:spAutoFit/>
          </a:bodyPr>
          <a:lstStyle/>
          <a:p>
            <a:pPr algn="ctr"/>
            <a:r>
              <a:rPr sz="2000" b="1">
                <a:solidFill>
                  <a:srgbClr val="1D1D1F"/>
                </a:solidFill>
                <a:latin typeface="Calibri"/>
              </a:rPr>
              <a:t>Creedom</a:t>
            </a:r>
          </a:p>
        </p:txBody>
      </p:sp>
      <p:sp>
        <p:nvSpPr>
          <p:cNvPr id="7" name="TextBox 6"/>
          <p:cNvSpPr txBox="1"/>
          <p:nvPr/>
        </p:nvSpPr>
        <p:spPr>
          <a:xfrm>
            <a:off x="1190091" y="4160520"/>
            <a:ext cx="2916936" cy="777240"/>
          </a:xfrm>
          <a:prstGeom prst="rect">
            <a:avLst/>
          </a:prstGeom>
          <a:noFill/>
        </p:spPr>
        <p:txBody>
          <a:bodyPr wrap="square">
            <a:spAutoFit/>
          </a:bodyPr>
          <a:lstStyle/>
          <a:p>
            <a:pPr algn="ctr"/>
            <a:r>
              <a:rPr sz="1400" b="0">
                <a:solidFill>
                  <a:srgbClr val="6E6E73"/>
                </a:solidFill>
                <a:latin typeface="Calibri"/>
              </a:rPr>
              <a:t>AI for creators. ₹1.9 crore deployed.</a:t>
            </a:r>
          </a:p>
        </p:txBody>
      </p:sp>
      <p:sp>
        <p:nvSpPr>
          <p:cNvPr id="8" name="Rounded Rectangle 7"/>
          <p:cNvSpPr/>
          <p:nvPr/>
        </p:nvSpPr>
        <p:spPr>
          <a:xfrm>
            <a:off x="4472787" y="3246120"/>
            <a:ext cx="32461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9947" y="3566160"/>
            <a:ext cx="2971800" cy="502920"/>
          </a:xfrm>
          <a:prstGeom prst="rect">
            <a:avLst/>
          </a:prstGeom>
          <a:noFill/>
        </p:spPr>
        <p:txBody>
          <a:bodyPr wrap="square">
            <a:spAutoFit/>
          </a:bodyPr>
          <a:lstStyle/>
          <a:p>
            <a:pPr algn="ctr"/>
            <a:r>
              <a:rPr sz="2000" b="1">
                <a:solidFill>
                  <a:srgbClr val="1D1D1F"/>
                </a:solidFill>
                <a:latin typeface="Calibri"/>
              </a:rPr>
              <a:t>GrooveBook</a:t>
            </a:r>
          </a:p>
        </p:txBody>
      </p:sp>
      <p:sp>
        <p:nvSpPr>
          <p:cNvPr id="10" name="TextBox 9"/>
          <p:cNvSpPr txBox="1"/>
          <p:nvPr/>
        </p:nvSpPr>
        <p:spPr>
          <a:xfrm>
            <a:off x="4637379" y="4160520"/>
            <a:ext cx="2916936" cy="777240"/>
          </a:xfrm>
          <a:prstGeom prst="rect">
            <a:avLst/>
          </a:prstGeom>
          <a:noFill/>
        </p:spPr>
        <p:txBody>
          <a:bodyPr wrap="square">
            <a:spAutoFit/>
          </a:bodyPr>
          <a:lstStyle/>
          <a:p>
            <a:pPr algn="ctr"/>
            <a:r>
              <a:rPr sz="1400" b="0">
                <a:solidFill>
                  <a:srgbClr val="6E6E73"/>
                </a:solidFill>
                <a:latin typeface="Calibri"/>
              </a:rPr>
              <a:t>Photo app. Acquired for $14.5M.</a:t>
            </a:r>
          </a:p>
        </p:txBody>
      </p:sp>
      <p:sp>
        <p:nvSpPr>
          <p:cNvPr id="11" name="Rounded Rectangle 10"/>
          <p:cNvSpPr/>
          <p:nvPr/>
        </p:nvSpPr>
        <p:spPr>
          <a:xfrm>
            <a:off x="7920075" y="3246120"/>
            <a:ext cx="324612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7235" y="3566160"/>
            <a:ext cx="2971800" cy="502920"/>
          </a:xfrm>
          <a:prstGeom prst="rect">
            <a:avLst/>
          </a:prstGeom>
          <a:noFill/>
        </p:spPr>
        <p:txBody>
          <a:bodyPr wrap="square">
            <a:spAutoFit/>
          </a:bodyPr>
          <a:lstStyle/>
          <a:p>
            <a:pPr algn="ctr"/>
            <a:r>
              <a:rPr sz="2000" b="1">
                <a:solidFill>
                  <a:srgbClr val="1D1D1F"/>
                </a:solidFill>
                <a:latin typeface="Calibri"/>
              </a:rPr>
              <a:t>Scholly</a:t>
            </a:r>
          </a:p>
        </p:txBody>
      </p:sp>
      <p:sp>
        <p:nvSpPr>
          <p:cNvPr id="13" name="TextBox 12"/>
          <p:cNvSpPr txBox="1"/>
          <p:nvPr/>
        </p:nvSpPr>
        <p:spPr>
          <a:xfrm>
            <a:off x="8084667" y="4160520"/>
            <a:ext cx="2916936" cy="777240"/>
          </a:xfrm>
          <a:prstGeom prst="rect">
            <a:avLst/>
          </a:prstGeom>
          <a:noFill/>
        </p:spPr>
        <p:txBody>
          <a:bodyPr wrap="square">
            <a:spAutoFit/>
          </a:bodyPr>
          <a:lstStyle/>
          <a:p>
            <a:pPr algn="ctr"/>
            <a:r>
              <a:rPr sz="1400" b="0">
                <a:solidFill>
                  <a:srgbClr val="6E6E73"/>
                </a:solidFill>
                <a:latin typeface="Calibri"/>
              </a:rPr>
              <a:t>Scholarship app. Shark Tank, later acquired.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51560"/>
            <a:ext cx="10881360" cy="1737360"/>
          </a:xfrm>
          <a:prstGeom prst="rect">
            <a:avLst/>
          </a:prstGeom>
          <a:noFill/>
        </p:spPr>
        <p:txBody>
          <a:bodyPr wrap="square">
            <a:spAutoFit/>
          </a:bodyPr>
          <a:lstStyle/>
          <a:p>
            <a:pPr algn="ctr"/>
            <a:r>
              <a:rPr sz="3600" b="1">
                <a:solidFill>
                  <a:srgbClr val="1D1D1F"/>
                </a:solidFill>
                <a:latin typeface="Calibri"/>
              </a:rPr>
              <a:t>Start with the product.</a:t>
            </a:r>
          </a:p>
        </p:txBody>
      </p:sp>
      <p:sp>
        <p:nvSpPr>
          <p:cNvPr id="4" name="TextBox 3"/>
          <p:cNvSpPr txBox="1"/>
          <p:nvPr/>
        </p:nvSpPr>
        <p:spPr>
          <a:xfrm>
            <a:off x="640080" y="2834639"/>
            <a:ext cx="10881360" cy="777240"/>
          </a:xfrm>
          <a:prstGeom prst="rect">
            <a:avLst/>
          </a:prstGeom>
          <a:noFill/>
        </p:spPr>
        <p:txBody>
          <a:bodyPr wrap="square">
            <a:spAutoFit/>
          </a:bodyPr>
          <a:lstStyle/>
          <a:p>
            <a:pPr algn="ctr"/>
            <a:r>
              <a:rPr sz="2200" b="0">
                <a:solidFill>
                  <a:srgbClr val="6E6E73"/>
                </a:solidFill>
                <a:latin typeface="Calibri"/>
              </a:rPr>
              <a:t>A game, a charm, or a tiny app.</a:t>
            </a:r>
          </a:p>
        </p:txBody>
      </p:sp>
      <p:sp>
        <p:nvSpPr>
          <p:cNvPr id="5" name="Rounded Rectangle 4"/>
          <p:cNvSpPr/>
          <p:nvPr/>
        </p:nvSpPr>
        <p:spPr>
          <a:xfrm>
            <a:off x="5623560" y="3703320"/>
            <a:ext cx="960120" cy="1417320"/>
          </a:xfrm>
          <a:prstGeom prst="roundRect">
            <a:avLst/>
          </a:prstGeom>
          <a:noFill/>
          <a:ln w="2794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779008" y="3886200"/>
            <a:ext cx="649224" cy="868680"/>
          </a:xfrm>
          <a:prstGeom prst="roundRect">
            <a:avLst/>
          </a:prstGeom>
          <a:noFill/>
          <a:ln w="22860">
            <a:solidFill>
              <a:srgbClr val="1E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016752" y="4828032"/>
            <a:ext cx="164592" cy="164592"/>
          </a:xfrm>
          <a:prstGeom prst="ellipse">
            <a:avLst/>
          </a:prstGeom>
          <a:solidFill>
            <a:srgbClr val="7C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709160" y="4160520"/>
            <a:ext cx="502920" cy="502920"/>
          </a:xfrm>
          <a:prstGeom prst="ellipse">
            <a:avLst/>
          </a:prstGeom>
          <a:no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4956048" y="3767328"/>
            <a:ext cx="0" cy="393192"/>
          </a:xfrm>
          <a:prstGeom prst="line">
            <a:avLst/>
          </a:prstGeom>
          <a:ln w="25400">
            <a:solidFill>
              <a:srgbClr val="1EC8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737360"/>
          </a:xfrm>
          <a:prstGeom prst="rect">
            <a:avLst/>
          </a:prstGeom>
          <a:noFill/>
        </p:spPr>
        <p:txBody>
          <a:bodyPr wrap="square">
            <a:spAutoFit/>
          </a:bodyPr>
          <a:lstStyle/>
          <a:p>
            <a:pPr algn="ctr"/>
            <a:r>
              <a:rPr sz="3400" b="1">
                <a:solidFill>
                  <a:srgbClr val="1D1D1F"/>
                </a:solidFill>
                <a:latin typeface="Calibri"/>
              </a:rPr>
              <a:t>Pick one.</a:t>
            </a:r>
          </a:p>
        </p:txBody>
      </p:sp>
      <p:sp>
        <p:nvSpPr>
          <p:cNvPr id="4" name="TextBox 3"/>
          <p:cNvSpPr txBox="1"/>
          <p:nvPr/>
        </p:nvSpPr>
        <p:spPr>
          <a:xfrm>
            <a:off x="640080" y="2194560"/>
            <a:ext cx="10881360" cy="777240"/>
          </a:xfrm>
          <a:prstGeom prst="rect">
            <a:avLst/>
          </a:prstGeom>
          <a:noFill/>
        </p:spPr>
        <p:txBody>
          <a:bodyPr wrap="square">
            <a:spAutoFit/>
          </a:bodyPr>
          <a:lstStyle/>
          <a:p>
            <a:pPr algn="ctr"/>
            <a:r>
              <a:rPr sz="2200" b="0">
                <a:solidFill>
                  <a:srgbClr val="6E6E73"/>
                </a:solidFill>
                <a:latin typeface="Calibri"/>
              </a:rPr>
              <a:t>Any of these is fine.</a:t>
            </a:r>
          </a:p>
        </p:txBody>
      </p:sp>
      <p:sp>
        <p:nvSpPr>
          <p:cNvPr id="5" name="TextBox 4"/>
          <p:cNvSpPr txBox="1"/>
          <p:nvPr/>
        </p:nvSpPr>
        <p:spPr>
          <a:xfrm>
            <a:off x="640080" y="2788920"/>
            <a:ext cx="10881360" cy="438912"/>
          </a:xfrm>
          <a:prstGeom prst="rect">
            <a:avLst/>
          </a:prstGeom>
          <a:noFill/>
        </p:spPr>
        <p:txBody>
          <a:bodyPr wrap="square">
            <a:spAutoFit/>
          </a:bodyPr>
          <a:lstStyle/>
          <a:p>
            <a:pPr algn="ctr"/>
            <a:r>
              <a:rPr sz="2200" b="1">
                <a:solidFill>
                  <a:srgbClr val="1D1D1F"/>
                </a:solidFill>
                <a:latin typeface="Calibri"/>
              </a:rPr>
              <a:t>Razorpay</a:t>
            </a:r>
          </a:p>
        </p:txBody>
      </p:sp>
      <p:sp>
        <p:nvSpPr>
          <p:cNvPr id="6" name="TextBox 5"/>
          <p:cNvSpPr txBox="1"/>
          <p:nvPr/>
        </p:nvSpPr>
        <p:spPr>
          <a:xfrm>
            <a:off x="640080" y="3291839"/>
            <a:ext cx="10881360" cy="438912"/>
          </a:xfrm>
          <a:prstGeom prst="rect">
            <a:avLst/>
          </a:prstGeom>
          <a:noFill/>
        </p:spPr>
        <p:txBody>
          <a:bodyPr wrap="square">
            <a:spAutoFit/>
          </a:bodyPr>
          <a:lstStyle/>
          <a:p>
            <a:pPr algn="ctr"/>
            <a:r>
              <a:rPr sz="2200" b="1">
                <a:solidFill>
                  <a:srgbClr val="1D1D1F"/>
                </a:solidFill>
                <a:latin typeface="Calibri"/>
              </a:rPr>
              <a:t>Stripe, where available</a:t>
            </a:r>
          </a:p>
        </p:txBody>
      </p:sp>
      <p:sp>
        <p:nvSpPr>
          <p:cNvPr id="7" name="TextBox 6"/>
          <p:cNvSpPr txBox="1"/>
          <p:nvPr/>
        </p:nvSpPr>
        <p:spPr>
          <a:xfrm>
            <a:off x="640080" y="3794759"/>
            <a:ext cx="10881360" cy="438912"/>
          </a:xfrm>
          <a:prstGeom prst="rect">
            <a:avLst/>
          </a:prstGeom>
          <a:noFill/>
        </p:spPr>
        <p:txBody>
          <a:bodyPr wrap="square">
            <a:spAutoFit/>
          </a:bodyPr>
          <a:lstStyle/>
          <a:p>
            <a:pPr algn="ctr"/>
            <a:r>
              <a:rPr sz="2200" b="1">
                <a:solidFill>
                  <a:srgbClr val="1D1D1F"/>
                </a:solidFill>
                <a:latin typeface="Calibri"/>
              </a:rPr>
              <a:t>RevenueCat — mobile subscriptions</a:t>
            </a:r>
          </a:p>
        </p:txBody>
      </p:sp>
      <p:sp>
        <p:nvSpPr>
          <p:cNvPr id="8" name="TextBox 7"/>
          <p:cNvSpPr txBox="1"/>
          <p:nvPr/>
        </p:nvSpPr>
        <p:spPr>
          <a:xfrm>
            <a:off x="640080" y="4297679"/>
            <a:ext cx="10881360" cy="438912"/>
          </a:xfrm>
          <a:prstGeom prst="rect">
            <a:avLst/>
          </a:prstGeom>
          <a:noFill/>
        </p:spPr>
        <p:txBody>
          <a:bodyPr wrap="square">
            <a:spAutoFit/>
          </a:bodyPr>
          <a:lstStyle/>
          <a:p>
            <a:pPr algn="ctr"/>
            <a:r>
              <a:rPr sz="2200" b="1">
                <a:solidFill>
                  <a:srgbClr val="1D1D1F"/>
                </a:solidFill>
                <a:latin typeface="Calibri"/>
              </a:rPr>
              <a:t>Google Pay — wallet, including UPI</a:t>
            </a:r>
          </a:p>
        </p:txBody>
      </p:sp>
      <p:sp>
        <p:nvSpPr>
          <p:cNvPr id="9" name="TextBox 8"/>
          <p:cNvSpPr txBox="1"/>
          <p:nvPr/>
        </p:nvSpPr>
        <p:spPr>
          <a:xfrm>
            <a:off x="640080" y="4800599"/>
            <a:ext cx="10881360" cy="438912"/>
          </a:xfrm>
          <a:prstGeom prst="rect">
            <a:avLst/>
          </a:prstGeom>
          <a:noFill/>
        </p:spPr>
        <p:txBody>
          <a:bodyPr wrap="square">
            <a:spAutoFit/>
          </a:bodyPr>
          <a:lstStyle/>
          <a:p>
            <a:pPr algn="ctr"/>
            <a:r>
              <a:rPr sz="2200" b="1">
                <a:solidFill>
                  <a:srgbClr val="1D1D1F"/>
                </a:solidFill>
                <a:latin typeface="Calibri"/>
              </a:rPr>
              <a:t>Apple Pay — wallet, where 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51560"/>
            <a:ext cx="10881360" cy="1737360"/>
          </a:xfrm>
          <a:prstGeom prst="rect">
            <a:avLst/>
          </a:prstGeom>
          <a:noFill/>
        </p:spPr>
        <p:txBody>
          <a:bodyPr wrap="square">
            <a:spAutoFit/>
          </a:bodyPr>
          <a:lstStyle/>
          <a:p>
            <a:pPr algn="ctr"/>
            <a:r>
              <a:rPr sz="3600" b="1">
                <a:solidFill>
                  <a:srgbClr val="1D1D1F"/>
                </a:solidFill>
                <a:latin typeface="Calibri"/>
              </a:rPr>
              <a:t>Then take payment.</a:t>
            </a:r>
          </a:p>
        </p:txBody>
      </p:sp>
      <p:sp>
        <p:nvSpPr>
          <p:cNvPr id="4" name="TextBox 3"/>
          <p:cNvSpPr txBox="1"/>
          <p:nvPr/>
        </p:nvSpPr>
        <p:spPr>
          <a:xfrm>
            <a:off x="640080" y="2834639"/>
            <a:ext cx="10881360" cy="777240"/>
          </a:xfrm>
          <a:prstGeom prst="rect">
            <a:avLst/>
          </a:prstGeom>
          <a:noFill/>
        </p:spPr>
        <p:txBody>
          <a:bodyPr wrap="square">
            <a:spAutoFit/>
          </a:bodyPr>
          <a:lstStyle/>
          <a:p>
            <a:pPr algn="ctr"/>
            <a:r>
              <a:rPr sz="2200" b="0">
                <a:solidFill>
                  <a:srgbClr val="6E6E73"/>
                </a:solidFill>
                <a:latin typeface="Calibri"/>
              </a:rPr>
              <a:t>One price. One checkout.</a:t>
            </a:r>
          </a:p>
        </p:txBody>
      </p:sp>
      <p:sp>
        <p:nvSpPr>
          <p:cNvPr id="5" name="Rounded Rectangle 4"/>
          <p:cNvSpPr/>
          <p:nvPr/>
        </p:nvSpPr>
        <p:spPr>
          <a:xfrm>
            <a:off x="4617720" y="3794760"/>
            <a:ext cx="2926080" cy="1234440"/>
          </a:xfrm>
          <a:prstGeom prst="roundRect">
            <a:avLst/>
          </a:prstGeom>
          <a:noFill/>
          <a:ln w="2794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17720" y="3794760"/>
            <a:ext cx="2926080" cy="292608"/>
          </a:xfrm>
          <a:prstGeom prst="roundRect">
            <a:avLst/>
          </a:prstGeom>
          <a:solidFill>
            <a:srgbClr val="1EC8E6">
              <a:lumMod val="45000"/>
              <a:lumOff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937760" y="4617720"/>
            <a:ext cx="868680" cy="0"/>
          </a:xfrm>
          <a:prstGeom prst="line">
            <a:avLst/>
          </a:prstGeom>
          <a:ln w="27940">
            <a:solidFill>
              <a:srgbClr val="1EC8E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903720" y="4315968"/>
            <a:ext cx="384048" cy="384048"/>
          </a:xfrm>
          <a:prstGeom prst="ellipse">
            <a:avLst/>
          </a:prstGeom>
          <a:noFill/>
          <a:ln w="2540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38547" y="5806440"/>
            <a:ext cx="107899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38547" y="5843016"/>
            <a:ext cx="1078992" cy="329184"/>
          </a:xfrm>
          <a:prstGeom prst="rect">
            <a:avLst/>
          </a:prstGeom>
          <a:noFill/>
        </p:spPr>
        <p:txBody>
          <a:bodyPr wrap="square">
            <a:spAutoFit/>
          </a:bodyPr>
          <a:lstStyle/>
          <a:p>
            <a:pPr algn="ctr"/>
            <a:r>
              <a:rPr sz="1200" b="1">
                <a:solidFill>
                  <a:srgbClr val="1D1D1F"/>
                </a:solidFill>
                <a:latin typeface="Calibri"/>
              </a:rPr>
              <a:t>₹99–₹499</a:t>
            </a:r>
          </a:p>
        </p:txBody>
      </p:sp>
      <p:sp>
        <p:nvSpPr>
          <p:cNvPr id="11" name="Rounded Rectangle 10"/>
          <p:cNvSpPr/>
          <p:nvPr/>
        </p:nvSpPr>
        <p:spPr>
          <a:xfrm>
            <a:off x="6082131" y="5806440"/>
            <a:ext cx="127101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2131" y="5843016"/>
            <a:ext cx="1271016" cy="329184"/>
          </a:xfrm>
          <a:prstGeom prst="rect">
            <a:avLst/>
          </a:prstGeom>
          <a:noFill/>
        </p:spPr>
        <p:txBody>
          <a:bodyPr wrap="square">
            <a:spAutoFit/>
          </a:bodyPr>
          <a:lstStyle/>
          <a:p>
            <a:pPr algn="ctr"/>
            <a:r>
              <a:rPr sz="1200" b="1">
                <a:solidFill>
                  <a:srgbClr val="1D1D1F"/>
                </a:solidFill>
                <a:latin typeface="Calibri"/>
              </a:rPr>
              <a:t>₹199/month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737360"/>
          </a:xfrm>
          <a:prstGeom prst="rect">
            <a:avLst/>
          </a:prstGeom>
          <a:noFill/>
        </p:spPr>
        <p:txBody>
          <a:bodyPr wrap="square">
            <a:spAutoFit/>
          </a:bodyPr>
          <a:lstStyle/>
          <a:p>
            <a:pPr algn="ctr"/>
            <a:r>
              <a:rPr sz="3200" b="1">
                <a:solidFill>
                  <a:srgbClr val="1D1D1F"/>
                </a:solidFill>
                <a:latin typeface="Calibri"/>
              </a:rPr>
              <a:t>Then watch what they do.</a:t>
            </a:r>
          </a:p>
        </p:txBody>
      </p:sp>
      <p:sp>
        <p:nvSpPr>
          <p:cNvPr id="4" name="TextBox 3"/>
          <p:cNvSpPr txBox="1"/>
          <p:nvPr/>
        </p:nvSpPr>
        <p:spPr>
          <a:xfrm>
            <a:off x="640080" y="2194560"/>
            <a:ext cx="10881360" cy="777240"/>
          </a:xfrm>
          <a:prstGeom prst="rect">
            <a:avLst/>
          </a:prstGeom>
          <a:noFill/>
        </p:spPr>
        <p:txBody>
          <a:bodyPr wrap="square">
            <a:spAutoFit/>
          </a:bodyPr>
          <a:lstStyle/>
          <a:p>
            <a:pPr algn="ctr"/>
            <a:r>
              <a:rPr sz="2200" b="0">
                <a:solidFill>
                  <a:srgbClr val="6E6E73"/>
                </a:solidFill>
                <a:latin typeface="Calibri"/>
              </a:rPr>
              <a:t>One analytics tool is enough.</a:t>
            </a:r>
          </a:p>
        </p:txBody>
      </p:sp>
      <p:cxnSp>
        <p:nvCxnSpPr>
          <p:cNvPr id="5" name="Connector 4"/>
          <p:cNvCxnSpPr/>
          <p:nvPr/>
        </p:nvCxnSpPr>
        <p:spPr>
          <a:xfrm>
            <a:off x="4709160" y="3794760"/>
            <a:ext cx="0" cy="1280160"/>
          </a:xfrm>
          <a:prstGeom prst="line">
            <a:avLst/>
          </a:prstGeom>
          <a:ln w="25400">
            <a:solidFill>
              <a:srgbClr val="7C5C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709160" y="5074920"/>
            <a:ext cx="2788919" cy="0"/>
          </a:xfrm>
          <a:prstGeom prst="line">
            <a:avLst/>
          </a:prstGeom>
          <a:ln w="25400">
            <a:solidFill>
              <a:srgbClr val="7C5CF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937760" y="4617720"/>
            <a:ext cx="347472" cy="502920"/>
          </a:xfrm>
          <a:prstGeom prst="roundRect">
            <a:avLst/>
          </a:prstGeom>
          <a:solidFill>
            <a:srgbClr val="1EC8E6">
              <a:lumMod val="65000"/>
              <a:lumOff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23560" y="4297680"/>
            <a:ext cx="347472" cy="777240"/>
          </a:xfrm>
          <a:prstGeom prst="roundRect">
            <a:avLst/>
          </a:prstGeom>
          <a:solidFill>
            <a:srgbClr val="7C5CFF">
              <a:lumMod val="65000"/>
              <a:lumOff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4480560"/>
            <a:ext cx="347472" cy="594360"/>
          </a:xfrm>
          <a:prstGeom prst="roundRect">
            <a:avLst/>
          </a:prstGeom>
          <a:solidFill>
            <a:srgbClr val="1EC8E6">
              <a:lumMod val="65000"/>
              <a:lumOff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95160" y="4023360"/>
            <a:ext cx="347472" cy="1051560"/>
          </a:xfrm>
          <a:prstGeom prst="roundRect">
            <a:avLst/>
          </a:prstGeom>
          <a:solidFill>
            <a:srgbClr val="7C5CFF">
              <a:lumMod val="65000"/>
              <a:lumOff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7181" y="5349240"/>
            <a:ext cx="98298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 y="5385816"/>
            <a:ext cx="982980" cy="329184"/>
          </a:xfrm>
          <a:prstGeom prst="rect">
            <a:avLst/>
          </a:prstGeom>
          <a:noFill/>
        </p:spPr>
        <p:txBody>
          <a:bodyPr wrap="square">
            <a:spAutoFit/>
          </a:bodyPr>
          <a:lstStyle/>
          <a:p>
            <a:pPr algn="ctr"/>
            <a:r>
              <a:rPr sz="1200" b="1">
                <a:solidFill>
                  <a:srgbClr val="1D1D1F"/>
                </a:solidFill>
                <a:latin typeface="Calibri"/>
              </a:rPr>
              <a:t>PostHog</a:t>
            </a:r>
          </a:p>
        </p:txBody>
      </p:sp>
      <p:sp>
        <p:nvSpPr>
          <p:cNvPr id="13" name="Rounded Rectangle 12"/>
          <p:cNvSpPr/>
          <p:nvPr/>
        </p:nvSpPr>
        <p:spPr>
          <a:xfrm>
            <a:off x="1914753" y="5349240"/>
            <a:ext cx="184708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14753" y="5385816"/>
            <a:ext cx="1847088" cy="329184"/>
          </a:xfrm>
          <a:prstGeom prst="rect">
            <a:avLst/>
          </a:prstGeom>
          <a:noFill/>
        </p:spPr>
        <p:txBody>
          <a:bodyPr wrap="square">
            <a:spAutoFit/>
          </a:bodyPr>
          <a:lstStyle/>
          <a:p>
            <a:pPr algn="ctr"/>
            <a:r>
              <a:rPr sz="1200" b="1">
                <a:solidFill>
                  <a:srgbClr val="1D1D1F"/>
                </a:solidFill>
                <a:latin typeface="Calibri"/>
              </a:rPr>
              <a:t>Google Analytics</a:t>
            </a:r>
          </a:p>
        </p:txBody>
      </p:sp>
      <p:sp>
        <p:nvSpPr>
          <p:cNvPr id="15" name="Rounded Rectangle 14"/>
          <p:cNvSpPr/>
          <p:nvPr/>
        </p:nvSpPr>
        <p:spPr>
          <a:xfrm>
            <a:off x="3926433" y="5349240"/>
            <a:ext cx="117500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26433" y="5385816"/>
            <a:ext cx="1175004" cy="329184"/>
          </a:xfrm>
          <a:prstGeom prst="rect">
            <a:avLst/>
          </a:prstGeom>
          <a:noFill/>
        </p:spPr>
        <p:txBody>
          <a:bodyPr wrap="square">
            <a:spAutoFit/>
          </a:bodyPr>
          <a:lstStyle/>
          <a:p>
            <a:pPr algn="ctr"/>
            <a:r>
              <a:rPr sz="1200" b="1">
                <a:solidFill>
                  <a:srgbClr val="1D1D1F"/>
                </a:solidFill>
                <a:latin typeface="Calibri"/>
              </a:rPr>
              <a:t>Plausible</a:t>
            </a:r>
          </a:p>
        </p:txBody>
      </p:sp>
      <p:sp>
        <p:nvSpPr>
          <p:cNvPr id="17" name="Rounded Rectangle 16"/>
          <p:cNvSpPr/>
          <p:nvPr/>
        </p:nvSpPr>
        <p:spPr>
          <a:xfrm>
            <a:off x="5266029" y="5349240"/>
            <a:ext cx="203911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66029" y="5385816"/>
            <a:ext cx="2039112" cy="329184"/>
          </a:xfrm>
          <a:prstGeom prst="rect">
            <a:avLst/>
          </a:prstGeom>
          <a:noFill/>
        </p:spPr>
        <p:txBody>
          <a:bodyPr wrap="square">
            <a:spAutoFit/>
          </a:bodyPr>
          <a:lstStyle/>
          <a:p>
            <a:pPr algn="ctr"/>
            <a:r>
              <a:rPr sz="1200" b="1">
                <a:solidFill>
                  <a:srgbClr val="1D1D1F"/>
                </a:solidFill>
                <a:latin typeface="Calibri"/>
              </a:rPr>
              <a:t>Firebase Analytics</a:t>
            </a:r>
          </a:p>
        </p:txBody>
      </p:sp>
      <p:sp>
        <p:nvSpPr>
          <p:cNvPr id="19" name="Rounded Rectangle 18"/>
          <p:cNvSpPr/>
          <p:nvPr/>
        </p:nvSpPr>
        <p:spPr>
          <a:xfrm>
            <a:off x="7469733" y="5349240"/>
            <a:ext cx="136702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69733" y="5385816"/>
            <a:ext cx="1367028" cy="329184"/>
          </a:xfrm>
          <a:prstGeom prst="rect">
            <a:avLst/>
          </a:prstGeom>
          <a:noFill/>
        </p:spPr>
        <p:txBody>
          <a:bodyPr wrap="square">
            <a:spAutoFit/>
          </a:bodyPr>
          <a:lstStyle/>
          <a:p>
            <a:pPr algn="ctr"/>
            <a:r>
              <a:rPr sz="1200" b="1">
                <a:solidFill>
                  <a:srgbClr val="1D1D1F"/>
                </a:solidFill>
                <a:latin typeface="Calibri"/>
              </a:rPr>
              <a:t>Crashlytics</a:t>
            </a:r>
          </a:p>
        </p:txBody>
      </p:sp>
      <p:sp>
        <p:nvSpPr>
          <p:cNvPr id="21" name="Rounded Rectangle 20"/>
          <p:cNvSpPr/>
          <p:nvPr/>
        </p:nvSpPr>
        <p:spPr>
          <a:xfrm>
            <a:off x="9001353" y="5349240"/>
            <a:ext cx="242316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1353" y="5385816"/>
            <a:ext cx="2423160" cy="329184"/>
          </a:xfrm>
          <a:prstGeom prst="rect">
            <a:avLst/>
          </a:prstGeom>
          <a:noFill/>
        </p:spPr>
        <p:txBody>
          <a:bodyPr wrap="square">
            <a:spAutoFit/>
          </a:bodyPr>
          <a:lstStyle/>
          <a:p>
            <a:pPr algn="ctr"/>
            <a:r>
              <a:rPr sz="1200" b="1">
                <a:solidFill>
                  <a:srgbClr val="1D1D1F"/>
                </a:solidFill>
                <a:latin typeface="Calibri"/>
              </a:rPr>
              <a:t>Performance Monitoring</a:t>
            </a:r>
          </a:p>
        </p:txBody>
      </p:sp>
      <p:sp>
        <p:nvSpPr>
          <p:cNvPr id="23" name="TextBox 22"/>
          <p:cNvSpPr txBox="1"/>
          <p:nvPr/>
        </p:nvSpPr>
        <p:spPr>
          <a:xfrm>
            <a:off x="640080" y="5897880"/>
            <a:ext cx="10881360" cy="457200"/>
          </a:xfrm>
          <a:prstGeom prst="rect">
            <a:avLst/>
          </a:prstGeom>
          <a:noFill/>
        </p:spPr>
        <p:txBody>
          <a:bodyPr wrap="square">
            <a:spAutoFit/>
          </a:bodyPr>
          <a:lstStyle/>
          <a:p>
            <a:pPr algn="ctr"/>
            <a:r>
              <a:rPr sz="1600" b="0">
                <a:solidFill>
                  <a:srgbClr val="6E6E73"/>
                </a:solidFill>
                <a:latin typeface="Calibri"/>
              </a:rPr>
              <a:t>Most of these Firebase products are free.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881360" cy="1737360"/>
          </a:xfrm>
          <a:prstGeom prst="rect">
            <a:avLst/>
          </a:prstGeom>
          <a:noFill/>
        </p:spPr>
        <p:txBody>
          <a:bodyPr wrap="square">
            <a:spAutoFit/>
          </a:bodyPr>
          <a:lstStyle/>
          <a:p>
            <a:pPr algn="ctr"/>
            <a:r>
              <a:rPr sz="2800" b="1">
                <a:solidFill>
                  <a:srgbClr val="1D1D1F"/>
                </a:solidFill>
                <a:latin typeface="Calibri"/>
              </a:rPr>
              <a:t>Growth is a system you can learn.</a:t>
            </a:r>
          </a:p>
        </p:txBody>
      </p:sp>
      <p:sp>
        <p:nvSpPr>
          <p:cNvPr id="4" name="TextBox 3"/>
          <p:cNvSpPr txBox="1"/>
          <p:nvPr/>
        </p:nvSpPr>
        <p:spPr>
          <a:xfrm>
            <a:off x="640080" y="2039112"/>
            <a:ext cx="10881360" cy="777240"/>
          </a:xfrm>
          <a:prstGeom prst="rect">
            <a:avLst/>
          </a:prstGeom>
          <a:noFill/>
        </p:spPr>
        <p:txBody>
          <a:bodyPr wrap="square">
            <a:spAutoFit/>
          </a:bodyPr>
          <a:lstStyle/>
          <a:p>
            <a:pPr algn="ctr"/>
            <a:r>
              <a:rPr sz="2200" b="0">
                <a:solidFill>
                  <a:srgbClr val="6E6E73"/>
                </a:solidFill>
                <a:latin typeface="Calibri"/>
              </a:rPr>
              <a:t>Ads, experiments, and the event stream.</a:t>
            </a:r>
          </a:p>
        </p:txBody>
      </p:sp>
      <p:sp>
        <p:nvSpPr>
          <p:cNvPr id="5" name="TextBox 4"/>
          <p:cNvSpPr txBox="1"/>
          <p:nvPr/>
        </p:nvSpPr>
        <p:spPr>
          <a:xfrm>
            <a:off x="640080" y="2487168"/>
            <a:ext cx="10881360" cy="411480"/>
          </a:xfrm>
          <a:prstGeom prst="rect">
            <a:avLst/>
          </a:prstGeom>
          <a:noFill/>
        </p:spPr>
        <p:txBody>
          <a:bodyPr wrap="square">
            <a:spAutoFit/>
          </a:bodyPr>
          <a:lstStyle/>
          <a:p>
            <a:pPr algn="ctr"/>
            <a:r>
              <a:rPr sz="1800" b="1">
                <a:solidFill>
                  <a:srgbClr val="1D1D1F"/>
                </a:solidFill>
                <a:latin typeface="Calibri"/>
              </a:rPr>
              <a:t>Grow the product first. Then revenue, like ads.</a:t>
            </a:r>
          </a:p>
        </p:txBody>
      </p:sp>
      <p:sp>
        <p:nvSpPr>
          <p:cNvPr id="6" name="TextBox 5"/>
          <p:cNvSpPr txBox="1"/>
          <p:nvPr/>
        </p:nvSpPr>
        <p:spPr>
          <a:xfrm>
            <a:off x="640080" y="2907792"/>
            <a:ext cx="10881360" cy="411480"/>
          </a:xfrm>
          <a:prstGeom prst="rect">
            <a:avLst/>
          </a:prstGeom>
          <a:noFill/>
        </p:spPr>
        <p:txBody>
          <a:bodyPr wrap="square">
            <a:spAutoFit/>
          </a:bodyPr>
          <a:lstStyle/>
          <a:p>
            <a:pPr algn="ctr"/>
            <a:r>
              <a:rPr sz="1800" b="1">
                <a:solidFill>
                  <a:srgbClr val="1D1D1F"/>
                </a:solidFill>
                <a:latin typeface="Calibri"/>
              </a:rPr>
              <a:t>Run ads to sell the product. Don't put ads inside it.</a:t>
            </a:r>
          </a:p>
        </p:txBody>
      </p:sp>
      <p:sp>
        <p:nvSpPr>
          <p:cNvPr id="7" name="Rounded Rectangle 6"/>
          <p:cNvSpPr/>
          <p:nvPr/>
        </p:nvSpPr>
        <p:spPr>
          <a:xfrm>
            <a:off x="1025499" y="3474720"/>
            <a:ext cx="32461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2659" y="3730752"/>
            <a:ext cx="2971800" cy="411480"/>
          </a:xfrm>
          <a:prstGeom prst="rect">
            <a:avLst/>
          </a:prstGeom>
          <a:noFill/>
        </p:spPr>
        <p:txBody>
          <a:bodyPr wrap="square">
            <a:spAutoFit/>
          </a:bodyPr>
          <a:lstStyle/>
          <a:p>
            <a:pPr algn="ctr"/>
            <a:r>
              <a:rPr sz="1800" b="1">
                <a:solidFill>
                  <a:srgbClr val="1D1D1F"/>
                </a:solidFill>
                <a:latin typeface="Calibri"/>
              </a:rPr>
              <a:t>Ads</a:t>
            </a:r>
          </a:p>
        </p:txBody>
      </p:sp>
      <p:sp>
        <p:nvSpPr>
          <p:cNvPr id="9" name="TextBox 8"/>
          <p:cNvSpPr txBox="1"/>
          <p:nvPr/>
        </p:nvSpPr>
        <p:spPr>
          <a:xfrm>
            <a:off x="1190091" y="4251959"/>
            <a:ext cx="2916936" cy="1143000"/>
          </a:xfrm>
          <a:prstGeom prst="rect">
            <a:avLst/>
          </a:prstGeom>
          <a:noFill/>
        </p:spPr>
        <p:txBody>
          <a:bodyPr wrap="square">
            <a:spAutoFit/>
          </a:bodyPr>
          <a:lstStyle/>
          <a:p>
            <a:pPr algn="ctr"/>
            <a:r>
              <a:rPr sz="1400" b="0">
                <a:solidFill>
                  <a:srgbClr val="6E6E73"/>
                </a:solidFill>
                <a:latin typeface="Calibri"/>
              </a:rPr>
              <a:t>Google Ads. Meta ads. Apple Search Ads.</a:t>
            </a:r>
          </a:p>
        </p:txBody>
      </p:sp>
      <p:sp>
        <p:nvSpPr>
          <p:cNvPr id="10" name="Rounded Rectangle 9"/>
          <p:cNvSpPr/>
          <p:nvPr/>
        </p:nvSpPr>
        <p:spPr>
          <a:xfrm>
            <a:off x="4472787" y="3474720"/>
            <a:ext cx="32461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9947" y="3730752"/>
            <a:ext cx="2971800" cy="411480"/>
          </a:xfrm>
          <a:prstGeom prst="rect">
            <a:avLst/>
          </a:prstGeom>
          <a:noFill/>
        </p:spPr>
        <p:txBody>
          <a:bodyPr wrap="square">
            <a:spAutoFit/>
          </a:bodyPr>
          <a:lstStyle/>
          <a:p>
            <a:pPr algn="ctr"/>
            <a:r>
              <a:rPr sz="1800" b="1">
                <a:solidFill>
                  <a:srgbClr val="1D1D1F"/>
                </a:solidFill>
                <a:latin typeface="Calibri"/>
              </a:rPr>
              <a:t>Experiments</a:t>
            </a:r>
          </a:p>
        </p:txBody>
      </p:sp>
      <p:sp>
        <p:nvSpPr>
          <p:cNvPr id="12" name="TextBox 11"/>
          <p:cNvSpPr txBox="1"/>
          <p:nvPr/>
        </p:nvSpPr>
        <p:spPr>
          <a:xfrm>
            <a:off x="4637379" y="4251959"/>
            <a:ext cx="2916936" cy="1143000"/>
          </a:xfrm>
          <a:prstGeom prst="rect">
            <a:avLst/>
          </a:prstGeom>
          <a:noFill/>
        </p:spPr>
        <p:txBody>
          <a:bodyPr wrap="square">
            <a:spAutoFit/>
          </a:bodyPr>
          <a:lstStyle/>
          <a:p>
            <a:pPr algn="ctr"/>
            <a:r>
              <a:rPr sz="1400" b="0">
                <a:solidFill>
                  <a:srgbClr val="6E6E73"/>
                </a:solidFill>
                <a:latin typeface="Calibri"/>
              </a:rPr>
              <a:t>PostHog experiments. GrowthBook. Firebase A/B Testing.</a:t>
            </a:r>
          </a:p>
        </p:txBody>
      </p:sp>
      <p:sp>
        <p:nvSpPr>
          <p:cNvPr id="13" name="Rounded Rectangle 12"/>
          <p:cNvSpPr/>
          <p:nvPr/>
        </p:nvSpPr>
        <p:spPr>
          <a:xfrm>
            <a:off x="7920075" y="3474720"/>
            <a:ext cx="324612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7235" y="3730752"/>
            <a:ext cx="2971800" cy="411480"/>
          </a:xfrm>
          <a:prstGeom prst="rect">
            <a:avLst/>
          </a:prstGeom>
          <a:noFill/>
        </p:spPr>
        <p:txBody>
          <a:bodyPr wrap="square">
            <a:spAutoFit/>
          </a:bodyPr>
          <a:lstStyle/>
          <a:p>
            <a:pPr algn="ctr"/>
            <a:r>
              <a:rPr sz="1800" b="1">
                <a:solidFill>
                  <a:srgbClr val="1D1D1F"/>
                </a:solidFill>
                <a:latin typeface="Calibri"/>
              </a:rPr>
              <a:t>The stream</a:t>
            </a:r>
          </a:p>
        </p:txBody>
      </p:sp>
      <p:sp>
        <p:nvSpPr>
          <p:cNvPr id="15" name="TextBox 14"/>
          <p:cNvSpPr txBox="1"/>
          <p:nvPr/>
        </p:nvSpPr>
        <p:spPr>
          <a:xfrm>
            <a:off x="8084667" y="4251959"/>
            <a:ext cx="2916936" cy="1143000"/>
          </a:xfrm>
          <a:prstGeom prst="rect">
            <a:avLst/>
          </a:prstGeom>
          <a:noFill/>
        </p:spPr>
        <p:txBody>
          <a:bodyPr wrap="square">
            <a:spAutoFit/>
          </a:bodyPr>
          <a:lstStyle/>
          <a:p>
            <a:pPr algn="ctr"/>
            <a:r>
              <a:rPr sz="1400" b="0">
                <a:solidFill>
                  <a:srgbClr val="6E6E73"/>
                </a:solidFill>
                <a:latin typeface="Calibri"/>
              </a:rPr>
              <a:t>Events you already track. A flag ships a variant. Keep the winner.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143000"/>
            <a:ext cx="10881360" cy="1737360"/>
          </a:xfrm>
          <a:prstGeom prst="rect">
            <a:avLst/>
          </a:prstGeom>
          <a:noFill/>
        </p:spPr>
        <p:txBody>
          <a:bodyPr wrap="square">
            <a:spAutoFit/>
          </a:bodyPr>
          <a:lstStyle/>
          <a:p>
            <a:pPr algn="ctr"/>
            <a:r>
              <a:rPr sz="3200" b="1">
                <a:solidFill>
                  <a:srgbClr val="1D1D1F"/>
                </a:solidFill>
                <a:latin typeface="Calibri"/>
              </a:rPr>
              <a:t>Then give them a place to talk.</a:t>
            </a:r>
          </a:p>
        </p:txBody>
      </p:sp>
      <p:sp>
        <p:nvSpPr>
          <p:cNvPr id="4" name="TextBox 3"/>
          <p:cNvSpPr txBox="1"/>
          <p:nvPr/>
        </p:nvSpPr>
        <p:spPr>
          <a:xfrm>
            <a:off x="640080" y="2926080"/>
            <a:ext cx="10881360" cy="777240"/>
          </a:xfrm>
          <a:prstGeom prst="rect">
            <a:avLst/>
          </a:prstGeom>
          <a:noFill/>
        </p:spPr>
        <p:txBody>
          <a:bodyPr wrap="square">
            <a:spAutoFit/>
          </a:bodyPr>
          <a:lstStyle/>
          <a:p>
            <a:pPr algn="ctr"/>
            <a:r>
              <a:rPr sz="2200" b="0">
                <a:solidFill>
                  <a:srgbClr val="6E6E73"/>
                </a:solidFill>
                <a:latin typeface="Calibri"/>
              </a:rPr>
              <a:t>Discord is enough.</a:t>
            </a:r>
          </a:p>
        </p:txBody>
      </p:sp>
      <p:sp>
        <p:nvSpPr>
          <p:cNvPr id="5" name="Rounded Rectangle 4"/>
          <p:cNvSpPr/>
          <p:nvPr/>
        </p:nvSpPr>
        <p:spPr>
          <a:xfrm>
            <a:off x="4709160" y="3794760"/>
            <a:ext cx="1554480" cy="777240"/>
          </a:xfrm>
          <a:prstGeom prst="roundRect">
            <a:avLst/>
          </a:prstGeom>
          <a:noFill/>
          <a:ln w="27940">
            <a:solidFill>
              <a:srgbClr val="7C5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0" y="4434840"/>
            <a:ext cx="1554480" cy="658368"/>
          </a:xfrm>
          <a:prstGeom prst="roundRect">
            <a:avLst/>
          </a:prstGeom>
          <a:noFill/>
          <a:ln w="27940">
            <a:solidFill>
              <a:srgbClr val="1EC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983480" y="4069080"/>
            <a:ext cx="164592" cy="164592"/>
          </a:xfrm>
          <a:prstGeom prst="ellipse">
            <a:avLst/>
          </a:prstGeom>
          <a:solidFill>
            <a:srgbClr val="1EC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76088" y="4069080"/>
            <a:ext cx="164592" cy="164592"/>
          </a:xfrm>
          <a:prstGeom prst="ellipse">
            <a:avLst/>
          </a:prstGeom>
          <a:solidFill>
            <a:srgbClr val="7C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68696" y="4069080"/>
            <a:ext cx="164592" cy="164592"/>
          </a:xfrm>
          <a:prstGeom prst="ellipse">
            <a:avLst/>
          </a:prstGeom>
          <a:solidFill>
            <a:srgbClr val="1EC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24731" y="5806440"/>
            <a:ext cx="98298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4731" y="5843016"/>
            <a:ext cx="982980" cy="329184"/>
          </a:xfrm>
          <a:prstGeom prst="rect">
            <a:avLst/>
          </a:prstGeom>
          <a:noFill/>
        </p:spPr>
        <p:txBody>
          <a:bodyPr wrap="square">
            <a:spAutoFit/>
          </a:bodyPr>
          <a:lstStyle/>
          <a:p>
            <a:pPr algn="ctr"/>
            <a:r>
              <a:rPr sz="1200" b="1">
                <a:solidFill>
                  <a:srgbClr val="1D1D1F"/>
                </a:solidFill>
                <a:latin typeface="Calibri"/>
              </a:rPr>
              <a:t>Discord</a:t>
            </a:r>
          </a:p>
        </p:txBody>
      </p:sp>
      <p:sp>
        <p:nvSpPr>
          <p:cNvPr id="12" name="Rounded Rectangle 11"/>
          <p:cNvSpPr/>
          <p:nvPr/>
        </p:nvSpPr>
        <p:spPr>
          <a:xfrm>
            <a:off x="5172303" y="5806440"/>
            <a:ext cx="79095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2303" y="5843016"/>
            <a:ext cx="790956" cy="329184"/>
          </a:xfrm>
          <a:prstGeom prst="rect">
            <a:avLst/>
          </a:prstGeom>
          <a:noFill/>
        </p:spPr>
        <p:txBody>
          <a:bodyPr wrap="square">
            <a:spAutoFit/>
          </a:bodyPr>
          <a:lstStyle/>
          <a:p>
            <a:pPr algn="ctr"/>
            <a:r>
              <a:rPr sz="1200" b="1">
                <a:solidFill>
                  <a:srgbClr val="1D1D1F"/>
                </a:solidFill>
                <a:latin typeface="Calibri"/>
              </a:rPr>
              <a:t>email</a:t>
            </a:r>
          </a:p>
        </p:txBody>
      </p:sp>
      <p:sp>
        <p:nvSpPr>
          <p:cNvPr id="14" name="Rounded Rectangle 13"/>
          <p:cNvSpPr/>
          <p:nvPr/>
        </p:nvSpPr>
        <p:spPr>
          <a:xfrm>
            <a:off x="6127851" y="5806440"/>
            <a:ext cx="203911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7851" y="5843016"/>
            <a:ext cx="2039112" cy="329184"/>
          </a:xfrm>
          <a:prstGeom prst="rect">
            <a:avLst/>
          </a:prstGeom>
          <a:noFill/>
        </p:spPr>
        <p:txBody>
          <a:bodyPr wrap="square">
            <a:spAutoFit/>
          </a:bodyPr>
          <a:lstStyle/>
          <a:p>
            <a:pPr algn="ctr"/>
            <a:r>
              <a:rPr sz="1200" b="1">
                <a:solidFill>
                  <a:srgbClr val="1D1D1F"/>
                </a:solidFill>
                <a:latin typeface="Calibri"/>
              </a:rPr>
              <a:t>GitHub Discussions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74519"/>
            <a:ext cx="10881360" cy="1737360"/>
          </a:xfrm>
          <a:prstGeom prst="rect">
            <a:avLst/>
          </a:prstGeom>
          <a:noFill/>
        </p:spPr>
        <p:txBody>
          <a:bodyPr wrap="square">
            <a:spAutoFit/>
          </a:bodyPr>
          <a:lstStyle/>
          <a:p>
            <a:pPr algn="ctr"/>
            <a:r>
              <a:rPr sz="3000" b="1">
                <a:solidFill>
                  <a:srgbClr val="1D1D1F"/>
                </a:solidFill>
                <a:latin typeface="Calibri"/>
              </a:rPr>
              <a:t>They stay when you solve the next problem.</a:t>
            </a:r>
          </a:p>
        </p:txBody>
      </p:sp>
      <p:sp>
        <p:nvSpPr>
          <p:cNvPr id="4" name="TextBox 3"/>
          <p:cNvSpPr txBox="1"/>
          <p:nvPr/>
        </p:nvSpPr>
        <p:spPr>
          <a:xfrm>
            <a:off x="640080" y="3657600"/>
            <a:ext cx="10881360" cy="777240"/>
          </a:xfrm>
          <a:prstGeom prst="rect">
            <a:avLst/>
          </a:prstGeom>
          <a:noFill/>
        </p:spPr>
        <p:txBody>
          <a:bodyPr wrap="square">
            <a:spAutoFit/>
          </a:bodyPr>
          <a:lstStyle/>
          <a:p>
            <a:pPr algn="ctr"/>
            <a:r>
              <a:rPr sz="2200" b="0">
                <a:solidFill>
                  <a:srgbClr val="6E6E73"/>
                </a:solidFill>
                <a:latin typeface="Calibri"/>
              </a:rPr>
              <a:t>Likes are not customers.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25880"/>
            <a:ext cx="10881360" cy="1737360"/>
          </a:xfrm>
          <a:prstGeom prst="rect">
            <a:avLst/>
          </a:prstGeom>
          <a:noFill/>
        </p:spPr>
        <p:txBody>
          <a:bodyPr wrap="square">
            <a:spAutoFit/>
          </a:bodyPr>
          <a:lstStyle/>
          <a:p>
            <a:pPr algn="ctr"/>
            <a:r>
              <a:rPr sz="2800" b="1">
                <a:solidFill>
                  <a:srgbClr val="1D1D1F"/>
                </a:solidFill>
                <a:latin typeface="Calibri"/>
              </a:rPr>
              <a:t>Your first paying customer beats another feature.</a:t>
            </a:r>
          </a:p>
        </p:txBody>
      </p:sp>
      <p:sp>
        <p:nvSpPr>
          <p:cNvPr id="4" name="TextBox 3"/>
          <p:cNvSpPr txBox="1"/>
          <p:nvPr/>
        </p:nvSpPr>
        <p:spPr>
          <a:xfrm>
            <a:off x="640080" y="3108960"/>
            <a:ext cx="10881360" cy="777240"/>
          </a:xfrm>
          <a:prstGeom prst="rect">
            <a:avLst/>
          </a:prstGeom>
          <a:noFill/>
        </p:spPr>
        <p:txBody>
          <a:bodyPr wrap="square">
            <a:spAutoFit/>
          </a:bodyPr>
          <a:lstStyle/>
          <a:p>
            <a:pPr algn="ctr"/>
            <a:r>
              <a:rPr sz="2200" b="0">
                <a:solidFill>
                  <a:srgbClr val="6E6E73"/>
                </a:solidFill>
                <a:latin typeface="Calibri"/>
              </a:rPr>
              <a:t>Too simple is why it stays in GitHub.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554480"/>
            <a:ext cx="10881360" cy="1737360"/>
          </a:xfrm>
          <a:prstGeom prst="rect">
            <a:avLst/>
          </a:prstGeom>
          <a:noFill/>
        </p:spPr>
        <p:txBody>
          <a:bodyPr wrap="square">
            <a:spAutoFit/>
          </a:bodyPr>
          <a:lstStyle/>
          <a:p>
            <a:pPr algn="ctr"/>
            <a:r>
              <a:rPr sz="4000" b="1">
                <a:solidFill>
                  <a:srgbClr val="1D1D1F"/>
                </a:solidFill>
                <a:latin typeface="Calibri"/>
              </a:rPr>
              <a:t>Five people × ₹199.</a:t>
            </a:r>
          </a:p>
        </p:txBody>
      </p:sp>
      <p:sp>
        <p:nvSpPr>
          <p:cNvPr id="4" name="TextBox 3"/>
          <p:cNvSpPr txBox="1"/>
          <p:nvPr/>
        </p:nvSpPr>
        <p:spPr>
          <a:xfrm>
            <a:off x="640080" y="3337560"/>
            <a:ext cx="10881360" cy="777240"/>
          </a:xfrm>
          <a:prstGeom prst="rect">
            <a:avLst/>
          </a:prstGeom>
          <a:noFill/>
        </p:spPr>
        <p:txBody>
          <a:bodyPr wrap="square">
            <a:spAutoFit/>
          </a:bodyPr>
          <a:lstStyle/>
          <a:p>
            <a:pPr algn="ctr"/>
            <a:r>
              <a:rPr sz="2200" b="0">
                <a:solidFill>
                  <a:srgbClr val="6E6E73"/>
                </a:solidFill>
                <a:latin typeface="Calibri"/>
              </a:rPr>
              <a:t>Your first ₹1,000.</a:t>
            </a:r>
          </a:p>
        </p:txBody>
      </p:sp>
      <p:sp>
        <p:nvSpPr>
          <p:cNvPr id="5" name="Rounded Rectangle 4"/>
          <p:cNvSpPr/>
          <p:nvPr/>
        </p:nvSpPr>
        <p:spPr>
          <a:xfrm>
            <a:off x="3210915" y="5806440"/>
            <a:ext cx="165506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10915" y="5843016"/>
            <a:ext cx="1655064" cy="329184"/>
          </a:xfrm>
          <a:prstGeom prst="rect">
            <a:avLst/>
          </a:prstGeom>
          <a:noFill/>
        </p:spPr>
        <p:txBody>
          <a:bodyPr wrap="square">
            <a:spAutoFit/>
          </a:bodyPr>
          <a:lstStyle/>
          <a:p>
            <a:pPr algn="ctr"/>
            <a:r>
              <a:rPr sz="1200" b="1">
                <a:solidFill>
                  <a:srgbClr val="1D1D1F"/>
                </a:solidFill>
                <a:latin typeface="Calibri"/>
              </a:rPr>
              <a:t>₹199 extension</a:t>
            </a:r>
          </a:p>
        </p:txBody>
      </p:sp>
      <p:sp>
        <p:nvSpPr>
          <p:cNvPr id="7" name="Rounded Rectangle 6"/>
          <p:cNvSpPr/>
          <p:nvPr/>
        </p:nvSpPr>
        <p:spPr>
          <a:xfrm>
            <a:off x="5030571" y="5806440"/>
            <a:ext cx="107899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0571" y="5843016"/>
            <a:ext cx="1078992" cy="329184"/>
          </a:xfrm>
          <a:prstGeom prst="rect">
            <a:avLst/>
          </a:prstGeom>
          <a:noFill/>
        </p:spPr>
        <p:txBody>
          <a:bodyPr wrap="square">
            <a:spAutoFit/>
          </a:bodyPr>
          <a:lstStyle/>
          <a:p>
            <a:pPr algn="ctr"/>
            <a:r>
              <a:rPr sz="1200" b="1">
                <a:solidFill>
                  <a:srgbClr val="1D1D1F"/>
                </a:solidFill>
                <a:latin typeface="Calibri"/>
              </a:rPr>
              <a:t>₹299 app</a:t>
            </a:r>
          </a:p>
        </p:txBody>
      </p:sp>
      <p:sp>
        <p:nvSpPr>
          <p:cNvPr id="9" name="Rounded Rectangle 8"/>
          <p:cNvSpPr/>
          <p:nvPr/>
        </p:nvSpPr>
        <p:spPr>
          <a:xfrm>
            <a:off x="6274155" y="5806440"/>
            <a:ext cx="127101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4155" y="5843016"/>
            <a:ext cx="1271016" cy="329184"/>
          </a:xfrm>
          <a:prstGeom prst="rect">
            <a:avLst/>
          </a:prstGeom>
          <a:noFill/>
        </p:spPr>
        <p:txBody>
          <a:bodyPr wrap="square">
            <a:spAutoFit/>
          </a:bodyPr>
          <a:lstStyle/>
          <a:p>
            <a:pPr algn="ctr"/>
            <a:r>
              <a:rPr sz="1200" b="1">
                <a:solidFill>
                  <a:srgbClr val="1D1D1F"/>
                </a:solidFill>
                <a:latin typeface="Calibri"/>
              </a:rPr>
              <a:t>₹499/month</a:t>
            </a:r>
          </a:p>
        </p:txBody>
      </p:sp>
      <p:sp>
        <p:nvSpPr>
          <p:cNvPr id="11" name="Rounded Rectangle 10"/>
          <p:cNvSpPr/>
          <p:nvPr/>
        </p:nvSpPr>
        <p:spPr>
          <a:xfrm>
            <a:off x="7709763" y="5806440"/>
            <a:ext cx="127101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9763" y="5843016"/>
            <a:ext cx="1271016" cy="329184"/>
          </a:xfrm>
          <a:prstGeom prst="rect">
            <a:avLst/>
          </a:prstGeom>
          <a:noFill/>
        </p:spPr>
        <p:txBody>
          <a:bodyPr wrap="square">
            <a:spAutoFit/>
          </a:bodyPr>
          <a:lstStyle/>
          <a:p>
            <a:pPr algn="ctr"/>
            <a:r>
              <a:rPr sz="1200" b="1">
                <a:solidFill>
                  <a:srgbClr val="1D1D1F"/>
                </a:solidFill>
                <a:latin typeface="Calibri"/>
              </a:rPr>
              <a:t>Level pack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783080"/>
            <a:ext cx="10881360" cy="1737360"/>
          </a:xfrm>
          <a:prstGeom prst="rect">
            <a:avLst/>
          </a:prstGeom>
          <a:noFill/>
        </p:spPr>
        <p:txBody>
          <a:bodyPr wrap="square">
            <a:spAutoFit/>
          </a:bodyPr>
          <a:lstStyle/>
          <a:p>
            <a:pPr algn="ctr"/>
            <a:r>
              <a:rPr sz="3600" b="1">
                <a:solidFill>
                  <a:srgbClr val="1D1D1F"/>
                </a:solidFill>
                <a:latin typeface="Calibri"/>
              </a:rPr>
              <a:t>Build anything. Ship something.</a:t>
            </a:r>
          </a:p>
        </p:txBody>
      </p:sp>
      <p:sp>
        <p:nvSpPr>
          <p:cNvPr id="4" name="TextBox 3"/>
          <p:cNvSpPr txBox="1"/>
          <p:nvPr/>
        </p:nvSpPr>
        <p:spPr>
          <a:xfrm>
            <a:off x="640080" y="3566160"/>
            <a:ext cx="10881360" cy="777240"/>
          </a:xfrm>
          <a:prstGeom prst="rect">
            <a:avLst/>
          </a:prstGeom>
          <a:noFill/>
        </p:spPr>
        <p:txBody>
          <a:bodyPr wrap="square">
            <a:spAutoFit/>
          </a:bodyPr>
          <a:lstStyle/>
          <a:p>
            <a:pPr algn="ctr"/>
            <a:r>
              <a:rPr sz="2200" b="0">
                <a:solidFill>
                  <a:srgbClr val="6E6E73"/>
                </a:solidFill>
                <a:latin typeface="Calibri"/>
              </a:rPr>
              <a:t>Solo or team.</a:t>
            </a:r>
          </a:p>
        </p:txBody>
      </p:sp>
      <p:sp>
        <p:nvSpPr>
          <p:cNvPr id="5" name="Rounded Rectangle 4"/>
          <p:cNvSpPr/>
          <p:nvPr/>
        </p:nvSpPr>
        <p:spPr>
          <a:xfrm>
            <a:off x="4507077" y="5440680"/>
            <a:ext cx="69494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07077" y="5477256"/>
            <a:ext cx="694944" cy="329184"/>
          </a:xfrm>
          <a:prstGeom prst="rect">
            <a:avLst/>
          </a:prstGeom>
          <a:noFill/>
        </p:spPr>
        <p:txBody>
          <a:bodyPr wrap="square">
            <a:spAutoFit/>
          </a:bodyPr>
          <a:lstStyle/>
          <a:p>
            <a:pPr algn="ctr"/>
            <a:r>
              <a:rPr sz="1200" b="1">
                <a:solidFill>
                  <a:srgbClr val="1D1D1F"/>
                </a:solidFill>
                <a:latin typeface="Calibri"/>
              </a:rPr>
              <a:t>Game</a:t>
            </a:r>
          </a:p>
        </p:txBody>
      </p:sp>
      <p:sp>
        <p:nvSpPr>
          <p:cNvPr id="7" name="Rounded Rectangle 6"/>
          <p:cNvSpPr/>
          <p:nvPr/>
        </p:nvSpPr>
        <p:spPr>
          <a:xfrm>
            <a:off x="5366613" y="5440680"/>
            <a:ext cx="59893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66613" y="5477256"/>
            <a:ext cx="598932" cy="329184"/>
          </a:xfrm>
          <a:prstGeom prst="rect">
            <a:avLst/>
          </a:prstGeom>
          <a:noFill/>
        </p:spPr>
        <p:txBody>
          <a:bodyPr wrap="square">
            <a:spAutoFit/>
          </a:bodyPr>
          <a:lstStyle/>
          <a:p>
            <a:pPr algn="ctr"/>
            <a:r>
              <a:rPr sz="1200" b="1">
                <a:solidFill>
                  <a:srgbClr val="1D1D1F"/>
                </a:solidFill>
                <a:latin typeface="Calibri"/>
              </a:rPr>
              <a:t>App</a:t>
            </a:r>
          </a:p>
        </p:txBody>
      </p:sp>
      <p:sp>
        <p:nvSpPr>
          <p:cNvPr id="9" name="Rounded Rectangle 8"/>
          <p:cNvSpPr/>
          <p:nvPr/>
        </p:nvSpPr>
        <p:spPr>
          <a:xfrm>
            <a:off x="6130137" y="5440680"/>
            <a:ext cx="69494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30137" y="5477256"/>
            <a:ext cx="694944" cy="329184"/>
          </a:xfrm>
          <a:prstGeom prst="rect">
            <a:avLst/>
          </a:prstGeom>
          <a:noFill/>
        </p:spPr>
        <p:txBody>
          <a:bodyPr wrap="square">
            <a:spAutoFit/>
          </a:bodyPr>
          <a:lstStyle/>
          <a:p>
            <a:pPr algn="ctr"/>
            <a:r>
              <a:rPr sz="1200" b="1">
                <a:solidFill>
                  <a:srgbClr val="1D1D1F"/>
                </a:solidFill>
                <a:latin typeface="Calibri"/>
              </a:rPr>
              <a:t>Site</a:t>
            </a:r>
          </a:p>
        </p:txBody>
      </p:sp>
      <p:sp>
        <p:nvSpPr>
          <p:cNvPr id="11" name="Rounded Rectangle 10"/>
          <p:cNvSpPr/>
          <p:nvPr/>
        </p:nvSpPr>
        <p:spPr>
          <a:xfrm>
            <a:off x="6989673" y="5440680"/>
            <a:ext cx="69494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9673" y="5477256"/>
            <a:ext cx="694944" cy="329184"/>
          </a:xfrm>
          <a:prstGeom prst="rect">
            <a:avLst/>
          </a:prstGeom>
          <a:noFill/>
        </p:spPr>
        <p:txBody>
          <a:bodyPr wrap="square">
            <a:spAutoFit/>
          </a:bodyPr>
          <a:lstStyle/>
          <a:p>
            <a:pPr algn="ctr"/>
            <a:r>
              <a:rPr sz="1200" b="1">
                <a:solidFill>
                  <a:srgbClr val="1D1D1F"/>
                </a:solidFill>
                <a:latin typeface="Calibri"/>
              </a:rPr>
              <a:t>Tool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881360" cy="1051560"/>
          </a:xfrm>
          <a:prstGeom prst="rect">
            <a:avLst/>
          </a:prstGeom>
          <a:noFill/>
        </p:spPr>
        <p:txBody>
          <a:bodyPr wrap="square">
            <a:spAutoFit/>
          </a:bodyPr>
          <a:lstStyle/>
          <a:p>
            <a:pPr algn="ctr"/>
            <a:r>
              <a:rPr sz="3600" b="1">
                <a:solidFill>
                  <a:srgbClr val="1D1D1F"/>
                </a:solidFill>
                <a:latin typeface="Calibri"/>
              </a:rPr>
              <a:t>Take Startup School.</a:t>
            </a:r>
          </a:p>
        </p:txBody>
      </p:sp>
      <p:sp>
        <p:nvSpPr>
          <p:cNvPr id="4" name="TextBox 3"/>
          <p:cNvSpPr txBox="1"/>
          <p:nvPr/>
        </p:nvSpPr>
        <p:spPr>
          <a:xfrm>
            <a:off x="640080" y="1737360"/>
            <a:ext cx="10881360" cy="502920"/>
          </a:xfrm>
          <a:prstGeom prst="rect">
            <a:avLst/>
          </a:prstGeom>
          <a:noFill/>
        </p:spPr>
        <p:txBody>
          <a:bodyPr wrap="square">
            <a:spAutoFit/>
          </a:bodyPr>
          <a:lstStyle/>
          <a:p>
            <a:pPr algn="ctr"/>
            <a:r>
              <a:rPr sz="2200" b="0">
                <a:solidFill>
                  <a:srgbClr val="6E6E73"/>
                </a:solidFill>
                <a:latin typeface="Calibri"/>
              </a:rPr>
              <a:t>Free. Online. From YC.</a:t>
            </a:r>
          </a:p>
        </p:txBody>
      </p:sp>
      <p:pic>
        <p:nvPicPr>
          <p:cNvPr id="5" name="Picture 4" descr="startup-school-qr.png"/>
          <p:cNvPicPr>
            <a:picLocks noChangeAspect="1"/>
          </p:cNvPicPr>
          <p:nvPr/>
        </p:nvPicPr>
        <p:blipFill>
          <a:blip r:embed="rId2"/>
          <a:stretch>
            <a:fillRect/>
          </a:stretch>
        </p:blipFill>
        <p:spPr>
          <a:xfrm>
            <a:off x="4160520" y="2331720"/>
            <a:ext cx="3840480" cy="38404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881360" cy="1143000"/>
          </a:xfrm>
          <a:prstGeom prst="rect">
            <a:avLst/>
          </a:prstGeom>
          <a:noFill/>
        </p:spPr>
        <p:txBody>
          <a:bodyPr wrap="square">
            <a:spAutoFit/>
          </a:bodyPr>
          <a:lstStyle/>
          <a:p>
            <a:pPr algn="ctr"/>
            <a:r>
              <a:rPr sz="3400" b="1">
                <a:solidFill>
                  <a:srgbClr val="1D1D1F"/>
                </a:solidFill>
                <a:latin typeface="Calibri"/>
              </a:rPr>
              <a:t>One sheet. Set Review Ready.</a:t>
            </a:r>
          </a:p>
        </p:txBody>
      </p:sp>
      <p:pic>
        <p:nvPicPr>
          <p:cNvPr id="4" name="Picture 3" descr="shipaton-sheet-qr.png"/>
          <p:cNvPicPr>
            <a:picLocks noChangeAspect="1"/>
          </p:cNvPicPr>
          <p:nvPr/>
        </p:nvPicPr>
        <p:blipFill>
          <a:blip r:embed="rId2"/>
          <a:stretch>
            <a:fillRect/>
          </a:stretch>
        </p:blipFill>
        <p:spPr>
          <a:xfrm>
            <a:off x="4160520" y="1965960"/>
            <a:ext cx="3840480" cy="38404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74519"/>
            <a:ext cx="10881360" cy="1737360"/>
          </a:xfrm>
          <a:prstGeom prst="rect">
            <a:avLst/>
          </a:prstGeom>
          <a:noFill/>
        </p:spPr>
        <p:txBody>
          <a:bodyPr wrap="square">
            <a:spAutoFit/>
          </a:bodyPr>
          <a:lstStyle/>
          <a:p>
            <a:pPr algn="ctr"/>
            <a:r>
              <a:rPr sz="4000" b="1">
                <a:solidFill>
                  <a:srgbClr val="1D1D1F"/>
                </a:solidFill>
                <a:latin typeface="Calibri"/>
              </a:rPr>
              <a:t>Thursday. Make it live.</a:t>
            </a:r>
          </a:p>
        </p:txBody>
      </p:sp>
      <p:sp>
        <p:nvSpPr>
          <p:cNvPr id="4" name="Rounded Rectangle 3"/>
          <p:cNvSpPr/>
          <p:nvPr/>
        </p:nvSpPr>
        <p:spPr>
          <a:xfrm>
            <a:off x="4168749" y="5257800"/>
            <a:ext cx="107899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68749" y="5294376"/>
            <a:ext cx="1078992" cy="329184"/>
          </a:xfrm>
          <a:prstGeom prst="rect">
            <a:avLst/>
          </a:prstGeom>
          <a:noFill/>
        </p:spPr>
        <p:txBody>
          <a:bodyPr wrap="square">
            <a:spAutoFit/>
          </a:bodyPr>
          <a:lstStyle/>
          <a:p>
            <a:pPr algn="ctr"/>
            <a:r>
              <a:rPr sz="1200" b="1">
                <a:solidFill>
                  <a:srgbClr val="1D1D1F"/>
                </a:solidFill>
                <a:latin typeface="Calibri"/>
              </a:rPr>
              <a:t>Deployed</a:t>
            </a:r>
          </a:p>
        </p:txBody>
      </p:sp>
      <p:sp>
        <p:nvSpPr>
          <p:cNvPr id="6" name="Rounded Rectangle 5"/>
          <p:cNvSpPr/>
          <p:nvPr/>
        </p:nvSpPr>
        <p:spPr>
          <a:xfrm>
            <a:off x="5412333" y="5257800"/>
            <a:ext cx="88696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12333" y="5294376"/>
            <a:ext cx="886968" cy="329184"/>
          </a:xfrm>
          <a:prstGeom prst="rect">
            <a:avLst/>
          </a:prstGeom>
          <a:noFill/>
        </p:spPr>
        <p:txBody>
          <a:bodyPr wrap="square">
            <a:spAutoFit/>
          </a:bodyPr>
          <a:lstStyle/>
          <a:p>
            <a:pPr algn="ctr"/>
            <a:r>
              <a:rPr sz="1200" b="1">
                <a:solidFill>
                  <a:srgbClr val="1D1D1F"/>
                </a:solidFill>
                <a:latin typeface="Calibri"/>
              </a:rPr>
              <a:t>Usable</a:t>
            </a:r>
          </a:p>
        </p:txBody>
      </p:sp>
      <p:sp>
        <p:nvSpPr>
          <p:cNvPr id="8" name="Rounded Rectangle 7"/>
          <p:cNvSpPr/>
          <p:nvPr/>
        </p:nvSpPr>
        <p:spPr>
          <a:xfrm>
            <a:off x="6463893" y="5257800"/>
            <a:ext cx="1559052"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3893" y="5294376"/>
            <a:ext cx="1559052" cy="329184"/>
          </a:xfrm>
          <a:prstGeom prst="rect">
            <a:avLst/>
          </a:prstGeom>
          <a:noFill/>
        </p:spPr>
        <p:txBody>
          <a:bodyPr wrap="square">
            <a:spAutoFit/>
          </a:bodyPr>
          <a:lstStyle/>
          <a:p>
            <a:pPr algn="ctr"/>
            <a:r>
              <a:rPr sz="1200" b="1">
                <a:solidFill>
                  <a:srgbClr val="1D1D1F"/>
                </a:solidFill>
                <a:latin typeface="Calibri"/>
              </a:rPr>
              <a:t>Payments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51560"/>
            <a:ext cx="10881360" cy="1005840"/>
          </a:xfrm>
          <a:prstGeom prst="rect">
            <a:avLst/>
          </a:prstGeom>
          <a:noFill/>
        </p:spPr>
        <p:txBody>
          <a:bodyPr wrap="square">
            <a:spAutoFit/>
          </a:bodyPr>
          <a:lstStyle/>
          <a:p>
            <a:pPr algn="ctr"/>
            <a:r>
              <a:rPr sz="3600" b="1">
                <a:solidFill>
                  <a:srgbClr val="1D1D1F"/>
                </a:solidFill>
                <a:latin typeface="Calibri"/>
              </a:rPr>
              <a:t>Ship it. Get reviewed.</a:t>
            </a:r>
          </a:p>
        </p:txBody>
      </p:sp>
      <p:sp>
        <p:nvSpPr>
          <p:cNvPr id="4" name="TextBox 3"/>
          <p:cNvSpPr txBox="1"/>
          <p:nvPr/>
        </p:nvSpPr>
        <p:spPr>
          <a:xfrm>
            <a:off x="822960" y="2331720"/>
            <a:ext cx="10515600" cy="1828800"/>
          </a:xfrm>
          <a:prstGeom prst="rect">
            <a:avLst/>
          </a:prstGeom>
          <a:noFill/>
        </p:spPr>
        <p:txBody>
          <a:bodyPr wrap="square">
            <a:spAutoFit/>
          </a:bodyPr>
          <a:lstStyle/>
          <a:p>
            <a:pPr algn="ctr"/>
            <a:r>
              <a:rPr sz="2400" b="1">
                <a:solidFill>
                  <a:srgbClr val="1D1D1F"/>
                </a:solidFill>
                <a:latin typeface="Calibri"/>
              </a:rPr>
              <a:t>We're going to see 10 person billion-dollar companies pretty soon.</a:t>
            </a:r>
          </a:p>
        </p:txBody>
      </p:sp>
      <p:sp>
        <p:nvSpPr>
          <p:cNvPr id="5" name="TextBox 4"/>
          <p:cNvSpPr txBox="1"/>
          <p:nvPr/>
        </p:nvSpPr>
        <p:spPr>
          <a:xfrm>
            <a:off x="640080" y="4297680"/>
            <a:ext cx="10881360" cy="365760"/>
          </a:xfrm>
          <a:prstGeom prst="rect">
            <a:avLst/>
          </a:prstGeom>
          <a:noFill/>
        </p:spPr>
        <p:txBody>
          <a:bodyPr wrap="square">
            <a:spAutoFit/>
          </a:bodyPr>
          <a:lstStyle/>
          <a:p>
            <a:pPr algn="ctr"/>
            <a:r>
              <a:rPr sz="1400" b="1">
                <a:solidFill>
                  <a:srgbClr val="6E6E73"/>
                </a:solidFill>
                <a:latin typeface="Calibri"/>
              </a:rPr>
              <a:t>Sam Altman</a:t>
            </a:r>
          </a:p>
        </p:txBody>
      </p:sp>
      <p:sp>
        <p:nvSpPr>
          <p:cNvPr id="6" name="Rounded Rectangle 5"/>
          <p:cNvSpPr/>
          <p:nvPr/>
        </p:nvSpPr>
        <p:spPr>
          <a:xfrm>
            <a:off x="5220309" y="5257800"/>
            <a:ext cx="1751076"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20309" y="5294376"/>
            <a:ext cx="1751076" cy="329184"/>
          </a:xfrm>
          <a:prstGeom prst="rect">
            <a:avLst/>
          </a:prstGeom>
          <a:noFill/>
        </p:spPr>
        <p:txBody>
          <a:bodyPr wrap="square">
            <a:spAutoFit/>
          </a:bodyPr>
          <a:lstStyle/>
          <a:p>
            <a:pPr algn="ctr"/>
            <a:r>
              <a:rPr sz="1200" b="1">
                <a:solidFill>
                  <a:srgbClr val="1D1D1F"/>
                </a:solidFill>
                <a:latin typeface="Calibri"/>
              </a:rPr>
              <a:t>DevFest tickets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554480"/>
            <a:ext cx="10881360" cy="1737360"/>
          </a:xfrm>
          <a:prstGeom prst="rect">
            <a:avLst/>
          </a:prstGeom>
          <a:noFill/>
        </p:spPr>
        <p:txBody>
          <a:bodyPr wrap="square">
            <a:spAutoFit/>
          </a:bodyPr>
          <a:lstStyle/>
          <a:p>
            <a:pPr algn="ctr"/>
            <a:r>
              <a:rPr sz="3400" b="1">
                <a:solidFill>
                  <a:srgbClr val="1D1D1F"/>
                </a:solidFill>
                <a:latin typeface="Calibri"/>
              </a:rPr>
              <a:t>Just follow these for now.</a:t>
            </a:r>
          </a:p>
        </p:txBody>
      </p:sp>
      <p:sp>
        <p:nvSpPr>
          <p:cNvPr id="4" name="TextBox 3"/>
          <p:cNvSpPr txBox="1"/>
          <p:nvPr/>
        </p:nvSpPr>
        <p:spPr>
          <a:xfrm>
            <a:off x="640080" y="3337560"/>
            <a:ext cx="10881360" cy="777240"/>
          </a:xfrm>
          <a:prstGeom prst="rect">
            <a:avLst/>
          </a:prstGeom>
          <a:noFill/>
        </p:spPr>
        <p:txBody>
          <a:bodyPr wrap="square">
            <a:spAutoFit/>
          </a:bodyPr>
          <a:lstStyle/>
          <a:p>
            <a:pPr algn="ctr"/>
            <a:r>
              <a:rPr sz="2200" b="0">
                <a:solidFill>
                  <a:srgbClr val="6E6E73"/>
                </a:solidFill>
                <a:latin typeface="Calibri"/>
              </a:rPr>
              <a:t>Don't get overwhelmed.</a:t>
            </a:r>
          </a:p>
        </p:txBody>
      </p:sp>
      <p:sp>
        <p:nvSpPr>
          <p:cNvPr id="5" name="Rounded Rectangle 4"/>
          <p:cNvSpPr/>
          <p:nvPr/>
        </p:nvSpPr>
        <p:spPr>
          <a:xfrm>
            <a:off x="4168749" y="5074920"/>
            <a:ext cx="406908"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68749" y="5111496"/>
            <a:ext cx="406908" cy="329184"/>
          </a:xfrm>
          <a:prstGeom prst="rect">
            <a:avLst/>
          </a:prstGeom>
          <a:noFill/>
        </p:spPr>
        <p:txBody>
          <a:bodyPr wrap="square">
            <a:spAutoFit/>
          </a:bodyPr>
          <a:lstStyle/>
          <a:p>
            <a:pPr algn="ctr"/>
            <a:r>
              <a:rPr sz="1200" b="1">
                <a:solidFill>
                  <a:srgbClr val="1D1D1F"/>
                </a:solidFill>
                <a:latin typeface="Calibri"/>
              </a:rPr>
              <a:t>X</a:t>
            </a:r>
          </a:p>
        </p:txBody>
      </p:sp>
      <p:sp>
        <p:nvSpPr>
          <p:cNvPr id="7" name="Rounded Rectangle 6"/>
          <p:cNvSpPr/>
          <p:nvPr/>
        </p:nvSpPr>
        <p:spPr>
          <a:xfrm>
            <a:off x="4740249" y="5074920"/>
            <a:ext cx="1463040"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40249" y="5111496"/>
            <a:ext cx="1463040" cy="329184"/>
          </a:xfrm>
          <a:prstGeom prst="rect">
            <a:avLst/>
          </a:prstGeom>
          <a:noFill/>
        </p:spPr>
        <p:txBody>
          <a:bodyPr wrap="square">
            <a:spAutoFit/>
          </a:bodyPr>
          <a:lstStyle/>
          <a:p>
            <a:pPr algn="ctr"/>
            <a:r>
              <a:rPr sz="1200" b="1">
                <a:solidFill>
                  <a:srgbClr val="1D1D1F"/>
                </a:solidFill>
                <a:latin typeface="Calibri"/>
              </a:rPr>
              <a:t>Product Hunt</a:t>
            </a:r>
          </a:p>
        </p:txBody>
      </p:sp>
      <p:sp>
        <p:nvSpPr>
          <p:cNvPr id="9" name="Rounded Rectangle 8"/>
          <p:cNvSpPr/>
          <p:nvPr/>
        </p:nvSpPr>
        <p:spPr>
          <a:xfrm>
            <a:off x="6367881" y="5074920"/>
            <a:ext cx="1655064" cy="384048"/>
          </a:xfrm>
          <a:prstGeom prst="roundRect">
            <a:avLst/>
          </a:prstGeom>
          <a:solidFill>
            <a:srgbClr val="E8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7881" y="5111496"/>
            <a:ext cx="1655064" cy="329184"/>
          </a:xfrm>
          <a:prstGeom prst="rect">
            <a:avLst/>
          </a:prstGeom>
          <a:noFill/>
        </p:spPr>
        <p:txBody>
          <a:bodyPr wrap="square">
            <a:spAutoFit/>
          </a:bodyPr>
          <a:lstStyle/>
          <a:p>
            <a:pPr algn="ctr"/>
            <a:r>
              <a:rPr sz="1200" b="1">
                <a:solidFill>
                  <a:srgbClr val="1D1D1F"/>
                </a:solidFill>
                <a:latin typeface="Calibri"/>
              </a:rPr>
              <a:t>Startup School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ug-chennai-banner.jpg"/>
          <p:cNvPicPr>
            <a:picLocks noChangeAspect="1"/>
          </p:cNvPicPr>
          <p:nvPr/>
        </p:nvPicPr>
        <p:blipFill>
          <a:blip r:embed="rId2"/>
          <a:stretch>
            <a:fillRect/>
          </a:stretch>
        </p:blipFill>
        <p:spPr>
          <a:xfrm>
            <a:off x="0" y="85"/>
            <a:ext cx="12191695" cy="685782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roidcon-india-partner-card.png"/>
          <p:cNvPicPr>
            <a:picLocks noChangeAspect="1"/>
          </p:cNvPicPr>
          <p:nvPr/>
        </p:nvPicPr>
        <p:blipFill>
          <a:blip r:embed="rId2"/>
          <a:stretch>
            <a:fillRect/>
          </a:stretch>
        </p:blipFill>
        <p:spPr>
          <a:xfrm>
            <a:off x="0" y="238839"/>
            <a:ext cx="12191695" cy="63803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881360" cy="1143000"/>
          </a:xfrm>
          <a:prstGeom prst="rect">
            <a:avLst/>
          </a:prstGeom>
          <a:noFill/>
        </p:spPr>
        <p:txBody>
          <a:bodyPr wrap="square">
            <a:spAutoFit/>
          </a:bodyPr>
          <a:lstStyle/>
          <a:p>
            <a:pPr algn="ctr"/>
            <a:r>
              <a:rPr sz="3000" b="1">
                <a:solidFill>
                  <a:srgbClr val="1D1D1F"/>
                </a:solidFill>
                <a:latin typeface="Calibri"/>
              </a:rPr>
              <a:t>KUG Chennai Volunteer Interest Form</a:t>
            </a:r>
          </a:p>
        </p:txBody>
      </p:sp>
      <p:pic>
        <p:nvPicPr>
          <p:cNvPr id="4" name="Picture 3" descr="kug-volunteer-qr.png"/>
          <p:cNvPicPr>
            <a:picLocks noChangeAspect="1"/>
          </p:cNvPicPr>
          <p:nvPr/>
        </p:nvPicPr>
        <p:blipFill>
          <a:blip r:embed="rId2"/>
          <a:stretch>
            <a:fillRect/>
          </a:stretch>
        </p:blipFill>
        <p:spPr>
          <a:xfrm>
            <a:off x="3977639" y="1783080"/>
            <a:ext cx="4206240" cy="42062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ipaton-prize-pool.png"/>
          <p:cNvPicPr>
            <a:picLocks noChangeAspect="1"/>
          </p:cNvPicPr>
          <p:nvPr/>
        </p:nvPicPr>
        <p:blipFill>
          <a:blip r:embed="rId2"/>
          <a:stretch>
            <a:fillRect/>
          </a:stretch>
        </p:blipFill>
        <p:spPr>
          <a:xfrm>
            <a:off x="320040" y="411480"/>
            <a:ext cx="6035040" cy="6035040"/>
          </a:xfrm>
          <a:prstGeom prst="rect">
            <a:avLst/>
          </a:prstGeom>
        </p:spPr>
      </p:pic>
      <p:sp>
        <p:nvSpPr>
          <p:cNvPr id="4" name="TextBox 3"/>
          <p:cNvSpPr txBox="1"/>
          <p:nvPr/>
        </p:nvSpPr>
        <p:spPr>
          <a:xfrm>
            <a:off x="6537960" y="1051560"/>
            <a:ext cx="5212080" cy="2148840"/>
          </a:xfrm>
          <a:prstGeom prst="rect">
            <a:avLst/>
          </a:prstGeom>
          <a:noFill/>
        </p:spPr>
        <p:txBody>
          <a:bodyPr wrap="square">
            <a:spAutoFit/>
          </a:bodyPr>
          <a:lstStyle/>
          <a:p>
            <a:pPr algn="l"/>
            <a:r>
              <a:rPr sz="2200" b="1">
                <a:solidFill>
                  <a:srgbClr val="F5F5F7"/>
                </a:solidFill>
                <a:latin typeface="Calibri"/>
              </a:rPr>
              <a:t>The people who are crazy enough to think they can change the world are the ones who do.</a:t>
            </a:r>
          </a:p>
        </p:txBody>
      </p:sp>
      <p:sp>
        <p:nvSpPr>
          <p:cNvPr id="5" name="TextBox 4"/>
          <p:cNvSpPr txBox="1"/>
          <p:nvPr/>
        </p:nvSpPr>
        <p:spPr>
          <a:xfrm>
            <a:off x="6537960" y="3246120"/>
            <a:ext cx="5212080" cy="365760"/>
          </a:xfrm>
          <a:prstGeom prst="rect">
            <a:avLst/>
          </a:prstGeom>
          <a:noFill/>
        </p:spPr>
        <p:txBody>
          <a:bodyPr wrap="square">
            <a:spAutoFit/>
          </a:bodyPr>
          <a:lstStyle/>
          <a:p>
            <a:pPr algn="l"/>
            <a:r>
              <a:rPr sz="1400" b="1">
                <a:solidFill>
                  <a:srgbClr val="A1A1A6"/>
                </a:solidFill>
                <a:latin typeface="Calibri"/>
              </a:rPr>
              <a:t>Steve Jobs</a:t>
            </a:r>
          </a:p>
        </p:txBody>
      </p:sp>
      <p:sp>
        <p:nvSpPr>
          <p:cNvPr id="6" name="TextBox 5"/>
          <p:cNvSpPr txBox="1"/>
          <p:nvPr/>
        </p:nvSpPr>
        <p:spPr>
          <a:xfrm>
            <a:off x="6537960" y="3794760"/>
            <a:ext cx="5212080" cy="2103120"/>
          </a:xfrm>
          <a:prstGeom prst="rect">
            <a:avLst/>
          </a:prstGeom>
          <a:noFill/>
        </p:spPr>
        <p:txBody>
          <a:bodyPr wrap="square">
            <a:spAutoFit/>
          </a:bodyPr>
          <a:lstStyle/>
          <a:p>
            <a:pPr algn="l"/>
            <a:r>
              <a:rPr sz="1600" b="1">
                <a:solidFill>
                  <a:srgbClr val="F5F5F7"/>
                </a:solidFill>
                <a:latin typeface="Calibri"/>
              </a:rPr>
              <a:t>Today's prize pool is this. Nothing else is stopping you from a $1 billion company very soon. Think of the next $1 billion as your next hackathon-winning prize.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965960"/>
            <a:ext cx="10881360" cy="1188720"/>
          </a:xfrm>
          <a:prstGeom prst="rect">
            <a:avLst/>
          </a:prstGeom>
          <a:noFill/>
        </p:spPr>
        <p:txBody>
          <a:bodyPr wrap="square">
            <a:spAutoFit/>
          </a:bodyPr>
          <a:lstStyle/>
          <a:p>
            <a:pPr algn="ctr"/>
            <a:r>
              <a:rPr sz="4000" b="1">
                <a:solidFill>
                  <a:srgbClr val="F5F5F7"/>
                </a:solidFill>
                <a:latin typeface="Calibri"/>
              </a:rPr>
              <a:t>Thank you.</a:t>
            </a:r>
          </a:p>
        </p:txBody>
      </p:sp>
      <p:sp>
        <p:nvSpPr>
          <p:cNvPr id="4" name="TextBox 3"/>
          <p:cNvSpPr txBox="1"/>
          <p:nvPr/>
        </p:nvSpPr>
        <p:spPr>
          <a:xfrm>
            <a:off x="1097280" y="3291840"/>
            <a:ext cx="9966960" cy="1280160"/>
          </a:xfrm>
          <a:prstGeom prst="rect">
            <a:avLst/>
          </a:prstGeom>
          <a:noFill/>
        </p:spPr>
        <p:txBody>
          <a:bodyPr wrap="square">
            <a:spAutoFit/>
          </a:bodyPr>
          <a:lstStyle/>
          <a:p>
            <a:pPr algn="ctr"/>
            <a:r>
              <a:rPr sz="2200" b="0">
                <a:solidFill>
                  <a:srgbClr val="A1A1A6"/>
                </a:solidFill>
                <a:latin typeface="Calibri"/>
              </a:rPr>
              <a:t>Solaris Technologies and Tidel Park, for sponsoring the 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